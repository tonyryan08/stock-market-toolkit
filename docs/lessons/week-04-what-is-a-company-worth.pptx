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0:00–0:10 Wall of Resulting first: new nominations, vote, pin. Then harvest the discipline drill (next slide). PRE-CHECK two evenings before class: /fundamentals/ for AAPL, KO, BA and students' adopted companies — books fill ~12 companies/night, whole universe within 3 nights of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 total with the Wall. Collect one journal line per table, not a full round — keep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Don't show the next slide until the room has built the list itself — the invention moment is the lesson, same trick as week 2's cache. Then: companies file exactly these, audited, in public, every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Analysis (1940) epigraph, read aloud for week 5's mood — Horace: 'Many shall be restored that now are fallen, and many shall fall that now are in honor.' Valuing the business, not the ticker, is that book's whole premise.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min, one at a time on the flip chart. 'Is 1.1 bad?' — depends on the business (supermarket vs shipyard); Graham's bars are DEFENSIVE bars, deliberately strict, sector-blind by design. Week 5 argues this over the live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it properly, slowly — it's the most important 5 minutes of the phase. Hold up the course copy: chapter 8 starts p. 188; the parable sits near its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from Zweig's 75th-anniversary commentaries (the course notes): the digital Mr. Market, gamified trading, and patience as the individual's advantage. Connect to the harvest slide: the urge they felt this week was him knocking.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only — resist the urge to teach ch. 20 tonight; it anchors week 5. 0:50–0:55.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min. Circulate. Affordability will come up ('these are $200 shares and I have €10,000') — honest parking: position sizing is week 8's whole lesson; platforms and their terms are week 11; a five-slot paper portfolio works at any price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Boeing is the standing prop if present in the universe's loss years. 5 min, light touch — it rhymes with 'scams never fail well' (week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min, process-first — no return promises, ever. IF this week's Budget changed savings/investment tax treatment, say ONE neutral line: 'the rules just moved — week 11 prices it properly' — then park. Check the Department of Finance summary before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sentence, as always. Exit check before next week: reconcile ONE books page by eye against that company's real annual report (the npm test suite holds the arithmetic; this holds the 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Optional, never assigned, never examined — same as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TO THE STOCK MARKET  ·  PHASE 2: VALUE, THE GRAHAM WAY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60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company worth?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i="1" dirty="0">
                <a:solidFill>
                  <a:srgbClr val="9DBC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corner shop, the manic business partner — and the week Mr. Market moved into your phone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 rot="-240000">
            <a:off x="10149840" y="640080"/>
            <a:ext cx="137160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4 / 12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grade decisions, not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 — HARVEST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week of ignoring him: what did it cost?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11496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urge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52928"/>
            <a:ext cx="4654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felt it — the itch to DO something after a nightly glance at the chart? (Hands up. Everyone's goes up eventually.)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2103120"/>
            <a:ext cx="5111496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83096" y="2286000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doing nothing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852928"/>
            <a:ext cx="4654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Usually: nothing. Write the number on the board. That nothing is the week's finding — most trading urges are noise asking for attention.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37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Tonight we meet the character who manufactures that urge for a living.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0:10 — FLIP CHART, NO SLIDES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Buy the corner shop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 rot="-240000">
            <a:off x="9418320" y="594360"/>
            <a:ext cx="219456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BUILDS 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buying the shop on the corner — outright, your savings.
</a:t>
            </a:r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demand to see before you name a price?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room build the list:  </a:t>
            </a:r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owns (stock, fittings, the van) · what it owes (suppliers, the loan) · what it takes in a year · what's left after wages and light.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B43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Reveal: they have just invented the balance sheet and the income statement.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REVEAL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documents, audited, public, every year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111496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40280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sheet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07208"/>
            <a:ext cx="4654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owns and what it owes, on one date. The shop's stock, van and loan — at company scale, audited and filed for anyone to read.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2057400"/>
            <a:ext cx="5111496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83096" y="2240280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income statement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807208"/>
            <a:ext cx="4654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earned over the year, and what was left after the wages and the light bill. The year's story in one page of lines.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share is the corner shop cut into millions of slices — week 1's napkin, now with documents.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Micro Unit 7, 'The firm and its customers'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0:25 — KITCHEN-TABLE WORDS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numbers, four questions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23957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402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07208"/>
            <a:ext cx="1938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year's profit, how much belongs to ONE slice?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38728" y="2057400"/>
            <a:ext cx="23957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67328" y="22402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value /share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767328" y="2807208"/>
            <a:ext cx="1938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tonight, sell the lot, pay every debt — what's left per slice?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2057400"/>
            <a:ext cx="23957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83096" y="22402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807208"/>
            <a:ext cx="1938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pay this year's bills with this year's money? Comfort: about 2-to-1.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70264" y="2057400"/>
            <a:ext cx="23957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98864" y="22402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debt vs cushion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2807208"/>
            <a:ext cx="1938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mortgage bigger than the working-capital cushion?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00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A7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formulas tonight — the site computes. Tonight is about what each number ASKS.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TII ch. 12 (course copy p. 310) on how EPS gets dressed up — one line now, week 6 in full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0:40 — THE PARABLE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Mr. Market, your manic business partner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half a business. Your partner is obliging — and manic.
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he names a price for his half: some days giddy-high, some days despairing-low. You are perfectly free to </a:t>
            </a:r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his half, sell him yours, or ignore him entirely.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805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His feelings are not information about the business.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The Intelligent Investor ch. 8 — course copy p. 188; Zweig's commentary p. 213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240000">
            <a:off x="9784080" y="640080"/>
            <a:ext cx="1828800" cy="384048"/>
          </a:xfrm>
          <a:prstGeom prst="rect">
            <a:avLst/>
          </a:prstGeom>
          <a:solidFill>
            <a:srgbClr val="2A1715"/>
          </a:solidFill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UPDATE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Mr. Market lives in your pocket now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300984" cy="2286000"/>
          </a:xfrm>
          <a:prstGeom prst="roundRect">
            <a:avLst>
              <a:gd name="adj" fmla="val 2400"/>
            </a:avLst>
          </a:prstGeom>
          <a:solidFill>
            <a:srgbClr val="223730"/>
          </a:solidFill>
          <a:ln w="19050">
            <a:solidFill>
              <a:srgbClr val="3E6B5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5146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pings you at breakfast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81528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are his new voice — price moved! act now! The urgency is designed, not discovered.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43984" y="2331720"/>
            <a:ext cx="3300984" cy="2286000"/>
          </a:xfrm>
          <a:prstGeom prst="roundRect">
            <a:avLst>
              <a:gd name="adj" fmla="val 2400"/>
            </a:avLst>
          </a:prstGeom>
          <a:solidFill>
            <a:srgbClr val="223730"/>
          </a:solidFill>
          <a:ln w="19050">
            <a:solidFill>
              <a:srgbClr val="3E6B5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2584" y="25146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flashes red at lunch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3081528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Blinking numbers and charts tuned like slot machines. His mood swings, migrated to an interface.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65008" y="2331720"/>
            <a:ext cx="3300984" cy="2286000"/>
          </a:xfrm>
          <a:prstGeom prst="roundRect">
            <a:avLst>
              <a:gd name="adj" fmla="val 2400"/>
            </a:avLst>
          </a:prstGeom>
          <a:solidFill>
            <a:srgbClr val="223730"/>
          </a:solidFill>
          <a:ln w="19050">
            <a:solidFill>
              <a:srgbClr val="3E6B5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251460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throws confetti when you trade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3081528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apps literally celebrate the act of trading. Ask who profits from your activity. (It is not you.)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9DBC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parable didn't age — it got a push notification. Your edge over the professionals is patience, and it is exactly the edge the apps are built to take from you.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920240"/>
            <a:ext cx="9966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84"/>
              </a:lnSpc>
              <a:buNone/>
            </a:pPr>
            <a:r>
              <a:rPr lang="en-US" sz="38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Never pay so much that being a bit wrong ruins you.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448056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margin of safety — one sentence tonight, chapter 20 (course copy p. 512) in full when the checklist arrives next week.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TII ch. 20 — 'Margin of Safety' as the central concept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 — PHONES OUT, NO 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the books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/fundamentals/</a:t>
            </a:r>
            <a:pPr indent="0" marL="0">
              <a:buNone/>
            </a:pPr>
            <a:r>
              <a:rPr lang="en-US" sz="17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your homework company (or adopt one from the universe)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5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The four cards — say aloud what each one ASKS</a:t>
            </a:r>
            <a:endParaRPr lang="en-US" sz="16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5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Five-year table, bottom row — has the dividend row ever gone blank?</a:t>
            </a:r>
            <a:endParaRPr lang="en-US" sz="16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5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One journal line: “One number here surprised me because…”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red/green chips are Graham's bars — teaching thresholds from a 1949 book, printed so you can argue with them. Next week we run them as a screen and argue properly.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DETAIL WORTH A MINUTE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dash that tells the truth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1031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P/E:  —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20574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company that lost money this year (the universe has one or two). Its P/E card shows a dash, not a number — </a:t>
            </a:r>
            <a:pPr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loss has no meaningful P/E, and the toolkit refuses to compute nonsense.
</a:t>
            </a:r>
            <a:pPr indent="0" marL="0">
              <a:lnSpc>
                <a:spcPts val="2400"/>
              </a:lnSpc>
              <a:buNone/>
            </a:pPr>
            <a:r>
              <a:rPr lang="en-US" sz="1650" i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refuse to invent answers are the ones you can begin to trust. Remember that standard — you'll meet many that don't meet it.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1:15 — NAMING THE ROOM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savers' question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00984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07208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no reading of you — and pay accordingly. The honest baseline every investment must beat after costs and tax.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43984" y="2057400"/>
            <a:ext cx="3300984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2584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807208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with a mortgage, a decade of commitment — and no five-year accounts table on your phone screen.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5008" y="2057400"/>
            <a:ext cx="3300984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2240280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3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course's answer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807208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prediction and never a tip: a defensive investor demands EVIDENCE, read from the books, with a margin for being wrong.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course adds is the reading.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Micro Unit 9, 'Lenders and borrowers and differences in wealth'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1:25 — HOMEWORK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the chapter. Resist the partner.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11496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Read chapter 8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52928"/>
            <a:ext cx="46542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Graham's text AND Zweig's commentary — p. 188 and p. 213 in the course copy. The most important chapter in the book; everything next week stands on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2103120"/>
            <a:ext cx="5111496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83096" y="2286000"/>
            <a:ext cx="4654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Two visits, zero actions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852928"/>
            <a:ext cx="46542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company's books page twice this week. Journal ONE line each visit about a number that moved or surprised you — and resist Mr. Market both times.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“We grade decisions, not outcomes.”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DEEPER — FREE, FOREVER, OPTIONAL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Economy 2.0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university text, tracking tonight's ideas: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 UNIT 7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 and its customers — what a firm is, and where the profit line comes from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8130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 UNIT 9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and borrowers and differences in wealth — the savers' question, done with models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5902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UNIT 6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sector: debt, money, and financial markets — where tonight's statements meet the market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books.core-econ.org/the-economy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Intro to the Stock Market</dc:creator>
  <cp:lastModifiedBy>Intro to the Stock Market</cp:lastModifiedBy>
  <cp:revision>1</cp:revision>
  <dcterms:created xsi:type="dcterms:W3CDTF">2026-10-05T11:28:44Z</dcterms:created>
  <dcterms:modified xsi:type="dcterms:W3CDTF">2026-10-05T11:28:45Z</dcterms:modified>
</cp:coreProperties>
</file>