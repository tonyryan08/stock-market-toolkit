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PRE-CHECK the evening before: open /explain/ for the six chosen companies (highest scorer on each screen; a cheap-on-earnings failure; a new-dividend payer; a loss-year company; a bank) so the narratives are generated and cached. Read each source line. Print the six pages, one per pair. Print page 2 of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Be kind about the storyless ones — most people have never been asked to attach a number to a fear.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Graham p. 6 for the two definitions. The course does not call this 'risk appetite' — it is effort. Next slide: what moved, test by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across: the only two tests that got HARDER are the two about price. Everything about quality and record got easier. That is the trade: effort and a bargain price buy tolerance on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both. Zero candidates is the expected result for this pool — the enterprising screen was written for the small, dull end of the market, which is the next tier to arrive. AT&amp;T through the first cut and failing three others is the live example. p. 386 for the 150 and the one-in-five.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The bridge from Graham to tonight's feature. Scam literacy lives here: a tip is a narrative with the numbers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the page for the highest scorer and read it top to bottom: chips, story with its fact tags, the source line (who wrote it, when, tokens, cached or fresh, checks clean or flagged), the fact sheet, the bars, the kinds. Click 'Read the plain version instead'. The AI picks nothing: it is handed a sheet of numbers the toolkit computed and is forbidden to add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 one printed explain page per pair. Report back: one catch per pair. If a page carries a red flag from the toolkit's own check, that pair has the easiest first catch and the hardest second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with Yahoo or Google Finance open beside the books page. The point is not that Yahoo is wrong — it's that you cannot see how its number was made, and Graham's tests are all in the how. This answers the class's question from week 5: see the scripted answer in the tutor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Scripted answers in docs/lessons/week-06.md tutor notes, including the follow-up: 'would it scale up for me if I paid for breadth?' — yes; the rules and engine don't care; the rationing exists because we chose to pay nothing; it would give you Graham's list, not the one-in-five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homework is the exercise reversed: last week the machine wrote and the room checked; this week the room writes to the same standard. Close with the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never assigned, never examined.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620"/>
        </a:solidFill>
      </p:bgPr>
    </p:bg>
    <p:spTree>
      <p:nvGrpSpPr>
        <p:cNvPr id="1" name=""/>
        <p:cNvGrpSpPr/>
        <p:nvPr/>
      </p:nvGrpSpPr>
      <p:grpSpPr>
        <a:xfrm>
          <a:off x="0" y="0"/>
          <a:ext cx="0" cy="0"/>
          <a:chOff x="0" y="0"/>
          <a:chExt cx="0" cy="0"/>
        </a:xfrm>
      </p:grpSpPr>
      <p:sp>
        <p:nvSpPr>
          <p:cNvPr id="2" name="Text 0"/>
          <p:cNvSpPr txBox="1"/>
          <p:nvPr/>
        </p:nvSpPr>
        <p:spPr>
          <a:xfrm>
            <a:off x="822960" y="1051560"/>
            <a:ext cx="10515600" cy="365760"/>
          </a:xfrm>
          <a:prstGeom prst="rect">
            <a:avLst/>
          </a:prstGeom>
          <a:noFill/>
          <a:ln/>
        </p:spPr>
        <p:txBody>
          <a:bodyPr wrap="square" lIns="0" tIns="0" rIns="0" bIns="0" rtlCol="0" anchor="ctr"/>
          <a:lstStyle/>
          <a:p>
            <a:pPr indent="0" marL="0">
              <a:buNone/>
            </a:pPr>
            <a:r>
              <a:rPr lang="en-US" sz="1300" spc="300" kern="0" dirty="0">
                <a:solidFill>
                  <a:srgbClr val="B7C6D4"/>
                </a:solidFill>
                <a:latin typeface="Courier New" pitchFamily="34" charset="0"/>
                <a:ea typeface="Courier New" pitchFamily="34" charset="-122"/>
                <a:cs typeface="Courier New" pitchFamily="34" charset="-120"/>
              </a:rPr>
              <a:t>INTRO TO THE STOCK MARKET  ·  PHASE 2: VALUE, THE GRAHAM WAY</a:t>
            </a:r>
            <a:endParaRPr lang="en-US" sz="1300" dirty="0"/>
          </a:p>
        </p:txBody>
      </p:sp>
      <p:sp>
        <p:nvSpPr>
          <p:cNvPr id="3" name="Text 1"/>
          <p:cNvSpPr txBox="1"/>
          <p:nvPr/>
        </p:nvSpPr>
        <p:spPr>
          <a:xfrm>
            <a:off x="822960" y="1783080"/>
            <a:ext cx="10789920" cy="1463040"/>
          </a:xfrm>
          <a:prstGeom prst="rect">
            <a:avLst/>
          </a:prstGeom>
          <a:noFill/>
          <a:ln/>
        </p:spPr>
        <p:txBody>
          <a:bodyPr wrap="square" lIns="0" tIns="0" rIns="0" bIns="0" rtlCol="0" anchor="ctr"/>
          <a:lstStyle/>
          <a:p>
            <a:pPr indent="0" marL="0">
              <a:buNone/>
            </a:pPr>
            <a:r>
              <a:rPr lang="en-US" sz="6200" b="1" dirty="0">
                <a:solidFill>
                  <a:srgbClr val="EEF2E9"/>
                </a:solidFill>
                <a:latin typeface="Century Schoolbook" pitchFamily="34" charset="0"/>
                <a:ea typeface="Century Schoolbook" pitchFamily="34" charset="-122"/>
                <a:cs typeface="Century Schoolbook" pitchFamily="34" charset="-120"/>
              </a:rPr>
              <a:t>Numbers into narrative</a:t>
            </a:r>
            <a:endParaRPr lang="en-US" sz="6200" dirty="0"/>
          </a:p>
        </p:txBody>
      </p:sp>
      <p:sp>
        <p:nvSpPr>
          <p:cNvPr id="4" name="Text 2"/>
          <p:cNvSpPr txBox="1"/>
          <p:nvPr/>
        </p:nvSpPr>
        <p:spPr>
          <a:xfrm>
            <a:off x="822960" y="3566160"/>
            <a:ext cx="10058400" cy="1005840"/>
          </a:xfrm>
          <a:prstGeom prst="rect">
            <a:avLst/>
          </a:prstGeom>
          <a:noFill/>
          <a:ln/>
        </p:spPr>
        <p:txBody>
          <a:bodyPr wrap="square" lIns="0" tIns="0" rIns="0" bIns="0" rtlCol="0" anchor="ctr"/>
          <a:lstStyle/>
          <a:p>
            <a:pPr indent="0" marL="0">
              <a:lnSpc>
                <a:spcPts val="3000"/>
              </a:lnSpc>
              <a:buNone/>
            </a:pPr>
            <a:r>
              <a:rPr lang="en-US" sz="2300" i="1" dirty="0">
                <a:solidFill>
                  <a:srgbClr val="9DBCA9"/>
                </a:solidFill>
                <a:latin typeface="Century Schoolbook" pitchFamily="34" charset="0"/>
                <a:ea typeface="Century Schoolbook" pitchFamily="34" charset="-122"/>
                <a:cs typeface="Century Schoolbook" pitchFamily="34" charset="-120"/>
              </a:rPr>
              <a:t>Graham's second investor, a story written from a fact sheet — and the evening we check every sentence against the record</a:t>
            </a:r>
            <a:endParaRPr lang="en-US" sz="2300" dirty="0"/>
          </a:p>
        </p:txBody>
      </p:sp>
      <p:sp>
        <p:nvSpPr>
          <p:cNvPr id="5" name="Text 3"/>
          <p:cNvSpPr txBox="1"/>
          <p:nvPr/>
        </p:nvSpPr>
        <p:spPr>
          <a:xfrm rot="-240000">
            <a:off x="10149840" y="640080"/>
            <a:ext cx="1371600" cy="384048"/>
          </a:xfrm>
          <a:prstGeom prst="rect">
            <a:avLst/>
          </a:prstGeom>
          <a:noFill/>
          <a:ln w="19050">
            <a:solidFill>
              <a:srgbClr val="B4382E"/>
            </a:solidFill>
          </a:ln>
        </p:spPr>
        <p:txBody>
          <a:bodyPr wrap="square" lIns="0" tIns="0" rIns="0" bIns="0" rtlCol="0" anchor="ctr"/>
          <a:lstStyle/>
          <a:p>
            <a:pPr algn="ctr" indent="0" marL="0">
              <a:buNone/>
            </a:pPr>
            <a:r>
              <a:rPr lang="en-US" sz="1200" b="1" spc="200" kern="0" dirty="0">
                <a:solidFill>
                  <a:srgbClr val="B4382E"/>
                </a:solidFill>
                <a:latin typeface="Courier New" pitchFamily="34" charset="0"/>
                <a:ea typeface="Courier New" pitchFamily="34" charset="-122"/>
                <a:cs typeface="Courier New" pitchFamily="34" charset="-120"/>
              </a:rPr>
              <a:t>WK 6 / 12</a:t>
            </a:r>
            <a:endParaRPr lang="en-US" sz="1200" dirty="0"/>
          </a:p>
        </p:txBody>
      </p:sp>
      <p:sp>
        <p:nvSpPr>
          <p:cNvPr id="6" name="Text 4"/>
          <p:cNvSpPr txBox="1"/>
          <p:nvPr/>
        </p:nvSpPr>
        <p:spPr>
          <a:xfrm>
            <a:off x="822960" y="5989320"/>
            <a:ext cx="10058400" cy="411480"/>
          </a:xfrm>
          <a:prstGeom prst="rect">
            <a:avLst/>
          </a:prstGeom>
          <a:noFill/>
          <a:ln/>
        </p:spPr>
        <p:txBody>
          <a:bodyPr wrap="square" lIns="0" tIns="0" rIns="0" bIns="0" rtlCol="0" anchor="ctr"/>
          <a:lstStyle/>
          <a:p>
            <a:pPr indent="0" marL="0">
              <a:buNone/>
            </a:pPr>
            <a:r>
              <a:rPr lang="en-US" sz="1300" dirty="0">
                <a:solidFill>
                  <a:srgbClr val="6B7A72"/>
                </a:solidFill>
                <a:latin typeface="Courier New" pitchFamily="34" charset="0"/>
                <a:ea typeface="Courier New" pitchFamily="34" charset="-122"/>
                <a:cs typeface="Courier New" pitchFamily="34" charset="-120"/>
              </a:rPr>
              <a:t>We grade decisions, not outcomes.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2E9"/>
        </a:solidFill>
      </p:bgPr>
    </p:bg>
    <p:spTree>
      <p:nvGrpSpPr>
        <p:cNvPr id="1" name=""/>
        <p:cNvGrpSpPr/>
        <p:nvPr/>
      </p:nvGrpSpPr>
      <p:grpSpPr>
        <a:xfrm>
          <a:off x="0" y="0"/>
          <a:ext cx="0" cy="0"/>
          <a:chOff x="0" y="0"/>
          <a:chExt cx="0" cy="0"/>
        </a:xfrm>
      </p:grpSpPr>
      <p:sp>
        <p:nvSpPr>
          <p:cNvPr id="2" name="Text 0"/>
          <p:cNvSpPr txBox="1"/>
          <p:nvPr/>
        </p:nvSpPr>
        <p:spPr>
          <a:xfrm>
            <a:off x="822960" y="502920"/>
            <a:ext cx="9144000" cy="320040"/>
          </a:xfrm>
          <a:prstGeom prst="rect">
            <a:avLst/>
          </a:prstGeom>
          <a:noFill/>
          <a:ln/>
        </p:spPr>
        <p:txBody>
          <a:bodyPr wrap="square" lIns="0" tIns="0" rIns="0" bIns="0" rtlCol="0" anchor="ctr"/>
          <a:lstStyle/>
          <a:p>
            <a:pPr indent="0" marL="0">
              <a:buNone/>
            </a:pPr>
            <a:r>
              <a:rPr lang="en-US" sz="1200" spc="300" kern="0" dirty="0">
                <a:solidFill>
                  <a:srgbClr val="3E6B54"/>
                </a:solidFill>
                <a:latin typeface="Courier New" pitchFamily="34" charset="0"/>
                <a:ea typeface="Courier New" pitchFamily="34" charset="-122"/>
                <a:cs typeface="Courier New" pitchFamily="34" charset="-120"/>
              </a:rPr>
              <a:t>0:00 — HARVEST</a:t>
            </a:r>
            <a:endParaRPr lang="en-US" sz="1200" dirty="0"/>
          </a:p>
        </p:txBody>
      </p:sp>
      <p:sp>
        <p:nvSpPr>
          <p:cNvPr id="3" name="Text 1"/>
          <p:cNvSpPr txBox="1"/>
          <p:nvPr/>
        </p:nvSpPr>
        <p:spPr>
          <a:xfrm>
            <a:off x="822960" y="868680"/>
            <a:ext cx="10515600" cy="868680"/>
          </a:xfrm>
          <a:prstGeom prst="rect">
            <a:avLst/>
          </a:prstGeom>
          <a:noFill/>
          <a:ln/>
        </p:spPr>
        <p:txBody>
          <a:bodyPr wrap="square" lIns="0" tIns="0" rIns="0" bIns="0" rtlCol="0" anchor="ctr"/>
          <a:lstStyle/>
          <a:p>
            <a:pPr indent="0" marL="0">
              <a:buNone/>
            </a:pPr>
            <a:r>
              <a:rPr lang="en-US" sz="3600" b="1" dirty="0">
                <a:solidFill>
                  <a:srgbClr val="182620"/>
                </a:solidFill>
                <a:latin typeface="Century Schoolbook" pitchFamily="34" charset="0"/>
                <a:ea typeface="Century Schoolbook" pitchFamily="34" charset="-122"/>
                <a:cs typeface="Century Schoolbook" pitchFamily="34" charset="-120"/>
              </a:rPr>
              <a:t>Your pre-mortems</a:t>
            </a:r>
            <a:endParaRPr lang="en-US" sz="3600" dirty="0"/>
          </a:p>
        </p:txBody>
      </p:sp>
      <p:sp>
        <p:nvSpPr>
          <p:cNvPr id="4" name="Shape 2"/>
          <p:cNvSpPr/>
          <p:nvPr/>
        </p:nvSpPr>
        <p:spPr>
          <a:xfrm>
            <a:off x="822960" y="2103120"/>
            <a:ext cx="3300984" cy="2560320"/>
          </a:xfrm>
          <a:prstGeom prst="roundRect">
            <a:avLst>
              <a:gd name="adj" fmla="val 2143"/>
            </a:avLst>
          </a:prstGeom>
          <a:solidFill>
            <a:srgbClr val="FFFFFF"/>
          </a:solidFill>
          <a:ln w="12700">
            <a:solidFill>
              <a:srgbClr val="B7C6D4"/>
            </a:solidFill>
            <a:prstDash val="solid"/>
          </a:ln>
          <a:effectLst>
            <a:outerShdw sx="100000" sy="100000" kx="0" ky="0" algn="bl" rotWithShape="0" blurRad="76200" dist="25400" dir="5400000">
              <a:srgbClr val="182620">
                <a:alpha val="12000"/>
              </a:srgbClr>
            </a:outerShdw>
          </a:effectLst>
        </p:spPr>
      </p:sp>
      <p:sp>
        <p:nvSpPr>
          <p:cNvPr id="5" name="Text 3"/>
          <p:cNvSpPr txBox="1"/>
          <p:nvPr/>
        </p:nvSpPr>
        <p:spPr>
          <a:xfrm>
            <a:off x="1051560" y="2286000"/>
            <a:ext cx="2843784" cy="566928"/>
          </a:xfrm>
          <a:prstGeom prst="rect">
            <a:avLst/>
          </a:prstGeom>
          <a:noFill/>
          <a:ln/>
        </p:spPr>
        <p:txBody>
          <a:bodyPr wrap="square" lIns="0" tIns="0" rIns="0" bIns="0" rtlCol="0" anchor="ctr"/>
          <a:lstStyle/>
          <a:p>
            <a:pPr indent="0" marL="0">
              <a:buNone/>
            </a:pPr>
            <a:r>
              <a:rPr lang="en-US" sz="1700" b="1" dirty="0">
                <a:solidFill>
                  <a:srgbClr val="3E6B54"/>
                </a:solidFill>
                <a:latin typeface="Calibri" pitchFamily="34" charset="0"/>
                <a:ea typeface="Calibri" pitchFamily="34" charset="-122"/>
                <a:cs typeface="Calibri" pitchFamily="34" charset="-120"/>
              </a:rPr>
              <a:t>Three read aloud</a:t>
            </a:r>
            <a:endParaRPr lang="en-US" sz="1700" dirty="0"/>
          </a:p>
        </p:txBody>
      </p:sp>
      <p:sp>
        <p:nvSpPr>
          <p:cNvPr id="6" name="Text 4"/>
          <p:cNvSpPr txBox="1"/>
          <p:nvPr/>
        </p:nvSpPr>
        <p:spPr>
          <a:xfrm>
            <a:off x="1051560" y="2852928"/>
            <a:ext cx="2843784" cy="1600200"/>
          </a:xfrm>
          <a:prstGeom prst="rect">
            <a:avLst/>
          </a:prstGeom>
          <a:noFill/>
          <a:ln/>
        </p:spPr>
        <p:txBody>
          <a:bodyPr wrap="square" lIns="0" tIns="0" rIns="0" bIns="0" rtlCol="0" anchor="ctr"/>
          <a:lstStyle/>
          <a:p>
            <a:pPr indent="0" marL="0">
              <a:lnSpc>
                <a:spcPts val="1728"/>
              </a:lnSpc>
              <a:buNone/>
            </a:pPr>
            <a:r>
              <a:rPr lang="en-US" sz="1350" dirty="0">
                <a:solidFill>
                  <a:srgbClr val="182620"/>
                </a:solidFill>
                <a:latin typeface="Calibri" pitchFamily="34" charset="0"/>
                <a:ea typeface="Calibri" pitchFamily="34" charset="-122"/>
                <a:cs typeface="Calibri" pitchFamily="34" charset="-120"/>
              </a:rPr>
              <a:t>“It's three years on and it went badly. What most likely happened?”</a:t>
            </a:r>
            <a:endParaRPr lang="en-US" sz="1350" dirty="0"/>
          </a:p>
        </p:txBody>
      </p:sp>
      <p:sp>
        <p:nvSpPr>
          <p:cNvPr id="7" name="Shape 5"/>
          <p:cNvSpPr/>
          <p:nvPr/>
        </p:nvSpPr>
        <p:spPr>
          <a:xfrm>
            <a:off x="4443984" y="2103120"/>
            <a:ext cx="3300984" cy="2560320"/>
          </a:xfrm>
          <a:prstGeom prst="roundRect">
            <a:avLst>
              <a:gd name="adj" fmla="val 2143"/>
            </a:avLst>
          </a:prstGeom>
          <a:solidFill>
            <a:srgbClr val="FFFFFF"/>
          </a:solidFill>
          <a:ln w="12700">
            <a:solidFill>
              <a:srgbClr val="B7C6D4"/>
            </a:solidFill>
            <a:prstDash val="solid"/>
          </a:ln>
          <a:effectLst>
            <a:outerShdw sx="100000" sy="100000" kx="0" ky="0" algn="bl" rotWithShape="0" blurRad="76200" dist="25400" dir="5400000">
              <a:srgbClr val="182620">
                <a:alpha val="12000"/>
              </a:srgbClr>
            </a:outerShdw>
          </a:effectLst>
        </p:spPr>
      </p:sp>
      <p:sp>
        <p:nvSpPr>
          <p:cNvPr id="8" name="Text 6"/>
          <p:cNvSpPr txBox="1"/>
          <p:nvPr/>
        </p:nvSpPr>
        <p:spPr>
          <a:xfrm>
            <a:off x="4672584" y="2286000"/>
            <a:ext cx="2843784" cy="566928"/>
          </a:xfrm>
          <a:prstGeom prst="rect">
            <a:avLst/>
          </a:prstGeom>
          <a:noFill/>
          <a:ln/>
        </p:spPr>
        <p:txBody>
          <a:bodyPr wrap="square" lIns="0" tIns="0" rIns="0" bIns="0" rtlCol="0" anchor="ctr"/>
          <a:lstStyle/>
          <a:p>
            <a:pPr indent="0" marL="0">
              <a:buNone/>
            </a:pPr>
            <a:r>
              <a:rPr lang="en-US" sz="1700" b="1" dirty="0">
                <a:solidFill>
                  <a:srgbClr val="3E6B54"/>
                </a:solidFill>
                <a:latin typeface="Calibri" pitchFamily="34" charset="0"/>
                <a:ea typeface="Calibri" pitchFamily="34" charset="-122"/>
                <a:cs typeface="Calibri" pitchFamily="34" charset="-120"/>
              </a:rPr>
              <a:t>Listen for the number</a:t>
            </a:r>
            <a:endParaRPr lang="en-US" sz="1700" dirty="0"/>
          </a:p>
        </p:txBody>
      </p:sp>
      <p:sp>
        <p:nvSpPr>
          <p:cNvPr id="9" name="Text 7"/>
          <p:cNvSpPr txBox="1"/>
          <p:nvPr/>
        </p:nvSpPr>
        <p:spPr>
          <a:xfrm>
            <a:off x="4672584" y="2852928"/>
            <a:ext cx="2843784" cy="1600200"/>
          </a:xfrm>
          <a:prstGeom prst="rect">
            <a:avLst/>
          </a:prstGeom>
          <a:noFill/>
          <a:ln/>
        </p:spPr>
        <p:txBody>
          <a:bodyPr wrap="square" lIns="0" tIns="0" rIns="0" bIns="0" rtlCol="0" anchor="ctr"/>
          <a:lstStyle/>
          <a:p>
            <a:pPr indent="0" marL="0">
              <a:lnSpc>
                <a:spcPts val="1728"/>
              </a:lnSpc>
              <a:buNone/>
            </a:pPr>
            <a:r>
              <a:rPr lang="en-US" sz="1350" dirty="0">
                <a:solidFill>
                  <a:srgbClr val="182620"/>
                </a:solidFill>
                <a:latin typeface="Calibri" pitchFamily="34" charset="0"/>
                <a:ea typeface="Calibri" pitchFamily="34" charset="-122"/>
                <a:cs typeface="Calibri" pitchFamily="34" charset="-120"/>
              </a:rPr>
              <a:t>The strong ones name a figure that would have to move — a loss year, a debt, a dividend cut. The weak ones tell a story with no number in it.</a:t>
            </a:r>
            <a:endParaRPr lang="en-US" sz="1350" dirty="0"/>
          </a:p>
        </p:txBody>
      </p:sp>
      <p:sp>
        <p:nvSpPr>
          <p:cNvPr id="10" name="Shape 8"/>
          <p:cNvSpPr/>
          <p:nvPr/>
        </p:nvSpPr>
        <p:spPr>
          <a:xfrm>
            <a:off x="8065008" y="2103120"/>
            <a:ext cx="3300984" cy="2560320"/>
          </a:xfrm>
          <a:prstGeom prst="roundRect">
            <a:avLst>
              <a:gd name="adj" fmla="val 2143"/>
            </a:avLst>
          </a:prstGeom>
          <a:solidFill>
            <a:srgbClr val="FFFFFF"/>
          </a:solidFill>
          <a:ln w="12700">
            <a:solidFill>
              <a:srgbClr val="B7C6D4"/>
            </a:solidFill>
            <a:prstDash val="solid"/>
          </a:ln>
          <a:effectLst>
            <a:outerShdw sx="100000" sy="100000" kx="0" ky="0" algn="bl" rotWithShape="0" blurRad="76200" dist="25400" dir="5400000">
              <a:srgbClr val="182620">
                <a:alpha val="12000"/>
              </a:srgbClr>
            </a:outerShdw>
          </a:effectLst>
        </p:spPr>
      </p:sp>
      <p:sp>
        <p:nvSpPr>
          <p:cNvPr id="11" name="Text 9"/>
          <p:cNvSpPr txBox="1"/>
          <p:nvPr/>
        </p:nvSpPr>
        <p:spPr>
          <a:xfrm>
            <a:off x="8293608" y="2286000"/>
            <a:ext cx="2843784" cy="566928"/>
          </a:xfrm>
          <a:prstGeom prst="rect">
            <a:avLst/>
          </a:prstGeom>
          <a:noFill/>
          <a:ln/>
        </p:spPr>
        <p:txBody>
          <a:bodyPr wrap="square" lIns="0" tIns="0" rIns="0" bIns="0" rtlCol="0" anchor="ctr"/>
          <a:lstStyle/>
          <a:p>
            <a:pPr indent="0" marL="0">
              <a:buNone/>
            </a:pPr>
            <a:r>
              <a:rPr lang="en-US" sz="1700" b="1" dirty="0">
                <a:solidFill>
                  <a:srgbClr val="3E6B54"/>
                </a:solidFill>
                <a:latin typeface="Calibri" pitchFamily="34" charset="0"/>
                <a:ea typeface="Calibri" pitchFamily="34" charset="-122"/>
                <a:cs typeface="Calibri" pitchFamily="34" charset="-120"/>
              </a:rPr>
              <a:t>Tonight</a:t>
            </a:r>
            <a:endParaRPr lang="en-US" sz="1700" dirty="0"/>
          </a:p>
        </p:txBody>
      </p:sp>
      <p:sp>
        <p:nvSpPr>
          <p:cNvPr id="12" name="Text 10"/>
          <p:cNvSpPr txBox="1"/>
          <p:nvPr/>
        </p:nvSpPr>
        <p:spPr>
          <a:xfrm>
            <a:off x="8293608" y="2852928"/>
            <a:ext cx="2843784" cy="1600200"/>
          </a:xfrm>
          <a:prstGeom prst="rect">
            <a:avLst/>
          </a:prstGeom>
          <a:noFill/>
          <a:ln/>
        </p:spPr>
        <p:txBody>
          <a:bodyPr wrap="square" lIns="0" tIns="0" rIns="0" bIns="0" rtlCol="0" anchor="ctr"/>
          <a:lstStyle/>
          <a:p>
            <a:pPr indent="0" marL="0">
              <a:lnSpc>
                <a:spcPts val="1728"/>
              </a:lnSpc>
              <a:buNone/>
            </a:pPr>
            <a:r>
              <a:rPr lang="en-US" sz="1350" dirty="0">
                <a:solidFill>
                  <a:srgbClr val="182620"/>
                </a:solidFill>
                <a:latin typeface="Calibri" pitchFamily="34" charset="0"/>
                <a:ea typeface="Calibri" pitchFamily="34" charset="-122"/>
                <a:cs typeface="Calibri" pitchFamily="34" charset="-120"/>
              </a:rPr>
              <a:t>That difference is the whole evening: stories that point at the record, and stories that don't.</a:t>
            </a:r>
            <a:endParaRPr lang="en-US" sz="1350" dirty="0"/>
          </a:p>
        </p:txBody>
      </p:sp>
      <p:sp>
        <p:nvSpPr>
          <p:cNvPr id="13" name="Text 11"/>
          <p:cNvSpPr txBox="1"/>
          <p:nvPr/>
        </p:nvSpPr>
        <p:spPr>
          <a:xfrm>
            <a:off x="548640" y="6419088"/>
            <a:ext cx="3108960" cy="27432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Education, not advice.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2E9"/>
        </a:solidFill>
      </p:bgPr>
    </p:bg>
    <p:spTree>
      <p:nvGrpSpPr>
        <p:cNvPr id="1" name=""/>
        <p:cNvGrpSpPr/>
        <p:nvPr/>
      </p:nvGrpSpPr>
      <p:grpSpPr>
        <a:xfrm>
          <a:off x="0" y="0"/>
          <a:ext cx="0" cy="0"/>
          <a:chOff x="0" y="0"/>
          <a:chExt cx="0" cy="0"/>
        </a:xfrm>
      </p:grpSpPr>
      <p:sp>
        <p:nvSpPr>
          <p:cNvPr id="2" name="Text 0"/>
          <p:cNvSpPr txBox="1"/>
          <p:nvPr/>
        </p:nvSpPr>
        <p:spPr>
          <a:xfrm>
            <a:off x="822960" y="502920"/>
            <a:ext cx="9144000" cy="320040"/>
          </a:xfrm>
          <a:prstGeom prst="rect">
            <a:avLst/>
          </a:prstGeom>
          <a:noFill/>
          <a:ln/>
        </p:spPr>
        <p:txBody>
          <a:bodyPr wrap="square" lIns="0" tIns="0" rIns="0" bIns="0" rtlCol="0" anchor="ctr"/>
          <a:lstStyle/>
          <a:p>
            <a:pPr indent="0" marL="0">
              <a:buNone/>
            </a:pPr>
            <a:r>
              <a:rPr lang="en-US" sz="1200" spc="300" kern="0" dirty="0">
                <a:solidFill>
                  <a:srgbClr val="3E6B54"/>
                </a:solidFill>
                <a:latin typeface="Courier New" pitchFamily="34" charset="0"/>
                <a:ea typeface="Courier New" pitchFamily="34" charset="-122"/>
                <a:cs typeface="Courier New" pitchFamily="34" charset="-120"/>
              </a:rPr>
              <a:t>0:10 — GRAHAM'S SECOND INVESTOR</a:t>
            </a:r>
            <a:endParaRPr lang="en-US" sz="1200" dirty="0"/>
          </a:p>
        </p:txBody>
      </p:sp>
      <p:sp>
        <p:nvSpPr>
          <p:cNvPr id="3" name="Text 1"/>
          <p:cNvSpPr txBox="1"/>
          <p:nvPr/>
        </p:nvSpPr>
        <p:spPr>
          <a:xfrm>
            <a:off x="822960" y="868680"/>
            <a:ext cx="10515600" cy="868680"/>
          </a:xfrm>
          <a:prstGeom prst="rect">
            <a:avLst/>
          </a:prstGeom>
          <a:noFill/>
          <a:ln/>
        </p:spPr>
        <p:txBody>
          <a:bodyPr wrap="square" lIns="0" tIns="0" rIns="0" bIns="0" rtlCol="0" anchor="ctr"/>
          <a:lstStyle/>
          <a:p>
            <a:pPr indent="0" marL="0">
              <a:buNone/>
            </a:pPr>
            <a:r>
              <a:rPr lang="en-US" sz="3600" b="1" dirty="0">
                <a:solidFill>
                  <a:srgbClr val="182620"/>
                </a:solidFill>
                <a:latin typeface="Century Schoolbook" pitchFamily="34" charset="0"/>
                <a:ea typeface="Century Schoolbook" pitchFamily="34" charset="-122"/>
                <a:cs typeface="Century Schoolbook" pitchFamily="34" charset="-120"/>
              </a:rPr>
              <a:t>Effort, not nerve</a:t>
            </a:r>
            <a:endParaRPr lang="en-US" sz="3600" dirty="0"/>
          </a:p>
        </p:txBody>
      </p:sp>
      <p:sp>
        <p:nvSpPr>
          <p:cNvPr id="4" name="Shape 2"/>
          <p:cNvSpPr/>
          <p:nvPr/>
        </p:nvSpPr>
        <p:spPr>
          <a:xfrm>
            <a:off x="822960" y="2011680"/>
            <a:ext cx="4937760" cy="3017520"/>
          </a:xfrm>
          <a:prstGeom prst="roundRect">
            <a:avLst>
              <a:gd name="adj" fmla="val 1818"/>
            </a:avLst>
          </a:prstGeom>
          <a:solidFill>
            <a:srgbClr val="FFFFFF"/>
          </a:solidFill>
          <a:ln w="12700">
            <a:solidFill>
              <a:srgbClr val="B7C6D4"/>
            </a:solidFill>
            <a:prstDash val="solid"/>
          </a:ln>
        </p:spPr>
      </p:sp>
      <p:sp>
        <p:nvSpPr>
          <p:cNvPr id="5" name="Text 3"/>
          <p:cNvSpPr txBox="1"/>
          <p:nvPr/>
        </p:nvSpPr>
        <p:spPr>
          <a:xfrm>
            <a:off x="1051560" y="2194560"/>
            <a:ext cx="4480560" cy="320040"/>
          </a:xfrm>
          <a:prstGeom prst="rect">
            <a:avLst/>
          </a:prstGeom>
          <a:noFill/>
          <a:ln/>
        </p:spPr>
        <p:txBody>
          <a:bodyPr wrap="square" lIns="0" tIns="0" rIns="0" bIns="0" rtlCol="0" anchor="ctr"/>
          <a:lstStyle/>
          <a:p>
            <a:pPr indent="0" marL="0">
              <a:buNone/>
            </a:pPr>
            <a:r>
              <a:rPr lang="en-US" sz="1200" b="1" spc="200" kern="0" dirty="0">
                <a:solidFill>
                  <a:srgbClr val="3E6B54"/>
                </a:solidFill>
                <a:latin typeface="Courier New" pitchFamily="34" charset="0"/>
                <a:ea typeface="Courier New" pitchFamily="34" charset="-122"/>
                <a:cs typeface="Courier New" pitchFamily="34" charset="-120"/>
              </a:rPr>
              <a:t>DEFENSIVE</a:t>
            </a:r>
            <a:endParaRPr lang="en-US" sz="1200" dirty="0"/>
          </a:p>
        </p:txBody>
      </p:sp>
      <p:sp>
        <p:nvSpPr>
          <p:cNvPr id="6" name="Text 4"/>
          <p:cNvSpPr txBox="1"/>
          <p:nvPr/>
        </p:nvSpPr>
        <p:spPr>
          <a:xfrm>
            <a:off x="1051560" y="2651760"/>
            <a:ext cx="4480560" cy="2194560"/>
          </a:xfrm>
          <a:prstGeom prst="rect">
            <a:avLst/>
          </a:prstGeom>
          <a:noFill/>
          <a:ln/>
        </p:spPr>
        <p:txBody>
          <a:bodyPr wrap="square" lIns="0" tIns="0" rIns="0" bIns="0" rtlCol="0" anchor="ctr"/>
          <a:lstStyle/>
          <a:p>
            <a:pPr indent="0" marL="0">
              <a:lnSpc>
                <a:spcPts val="2500"/>
              </a:lnSpc>
              <a:buNone/>
            </a:pPr>
            <a:r>
              <a:rPr lang="en-US" sz="1700" dirty="0">
                <a:solidFill>
                  <a:srgbClr val="182620"/>
                </a:solidFill>
                <a:latin typeface="Calibri" pitchFamily="34" charset="0"/>
                <a:ea typeface="Calibri" pitchFamily="34" charset="-122"/>
                <a:cs typeface="Calibri" pitchFamily="34" charset="-120"/>
              </a:rPr>
              <a:t>Wants “freedom from effort, annoyance, and the need for making frequent decisions.”</a:t>
            </a:r>
            <a:endParaRPr lang="en-US" sz="1700" dirty="0"/>
          </a:p>
          <a:p>
            <a:pPr indent="0" marL="0">
              <a:lnSpc>
                <a:spcPts val="2500"/>
              </a:lnSpc>
              <a:buNone/>
            </a:pPr>
            <a:endParaRPr lang="en-US" sz="1700" dirty="0"/>
          </a:p>
          <a:p>
            <a:pPr indent="0" marL="0">
              <a:lnSpc>
                <a:spcPts val="2500"/>
              </a:lnSpc>
              <a:buNone/>
            </a:pPr>
            <a:r>
              <a:rPr lang="en-US" sz="1700" dirty="0">
                <a:solidFill>
                  <a:srgbClr val="182620"/>
                </a:solidFill>
                <a:latin typeface="Calibri" pitchFamily="34" charset="0"/>
                <a:ea typeface="Calibri" pitchFamily="34" charset="-122"/>
                <a:cs typeface="Calibri" pitchFamily="34" charset="-120"/>
              </a:rPr>
              <a:t>Seven tests. Size, strength, a long record — and a moderate price.</a:t>
            </a:r>
            <a:endParaRPr lang="en-US" sz="1700" dirty="0"/>
          </a:p>
        </p:txBody>
      </p:sp>
      <p:sp>
        <p:nvSpPr>
          <p:cNvPr id="7" name="Shape 5"/>
          <p:cNvSpPr/>
          <p:nvPr/>
        </p:nvSpPr>
        <p:spPr>
          <a:xfrm>
            <a:off x="6309360" y="2011680"/>
            <a:ext cx="5029200" cy="3017520"/>
          </a:xfrm>
          <a:prstGeom prst="roundRect">
            <a:avLst>
              <a:gd name="adj" fmla="val 1818"/>
            </a:avLst>
          </a:prstGeom>
          <a:solidFill>
            <a:srgbClr val="DCE8DF"/>
          </a:solidFill>
          <a:ln w="19050">
            <a:solidFill>
              <a:srgbClr val="3E6B54"/>
            </a:solidFill>
            <a:prstDash val="solid"/>
          </a:ln>
        </p:spPr>
      </p:sp>
      <p:sp>
        <p:nvSpPr>
          <p:cNvPr id="8" name="Text 6"/>
          <p:cNvSpPr txBox="1"/>
          <p:nvPr/>
        </p:nvSpPr>
        <p:spPr>
          <a:xfrm>
            <a:off x="6537960" y="2194560"/>
            <a:ext cx="4572000" cy="320040"/>
          </a:xfrm>
          <a:prstGeom prst="rect">
            <a:avLst/>
          </a:prstGeom>
          <a:noFill/>
          <a:ln/>
        </p:spPr>
        <p:txBody>
          <a:bodyPr wrap="square" lIns="0" tIns="0" rIns="0" bIns="0" rtlCol="0" anchor="ctr"/>
          <a:lstStyle/>
          <a:p>
            <a:pPr indent="0" marL="0">
              <a:buNone/>
            </a:pPr>
            <a:r>
              <a:rPr lang="en-US" sz="1200" b="1" spc="200" kern="0" dirty="0">
                <a:solidFill>
                  <a:srgbClr val="3E6B54"/>
                </a:solidFill>
                <a:latin typeface="Courier New" pitchFamily="34" charset="0"/>
                <a:ea typeface="Courier New" pitchFamily="34" charset="-122"/>
                <a:cs typeface="Courier New" pitchFamily="34" charset="-120"/>
              </a:rPr>
              <a:t>ENTERPRISING</a:t>
            </a:r>
            <a:endParaRPr lang="en-US" sz="1200" dirty="0"/>
          </a:p>
        </p:txBody>
      </p:sp>
      <p:sp>
        <p:nvSpPr>
          <p:cNvPr id="9" name="Text 7"/>
          <p:cNvSpPr txBox="1"/>
          <p:nvPr/>
        </p:nvSpPr>
        <p:spPr>
          <a:xfrm>
            <a:off x="6537960" y="2651760"/>
            <a:ext cx="4572000" cy="2194560"/>
          </a:xfrm>
          <a:prstGeom prst="rect">
            <a:avLst/>
          </a:prstGeom>
          <a:noFill/>
          <a:ln/>
        </p:spPr>
        <p:txBody>
          <a:bodyPr wrap="square" lIns="0" tIns="0" rIns="0" bIns="0" rtlCol="0" anchor="ctr"/>
          <a:lstStyle/>
          <a:p>
            <a:pPr indent="0" marL="0">
              <a:lnSpc>
                <a:spcPts val="2500"/>
              </a:lnSpc>
              <a:buNone/>
            </a:pPr>
            <a:r>
              <a:rPr lang="en-US" sz="1700" dirty="0">
                <a:solidFill>
                  <a:srgbClr val="182620"/>
                </a:solidFill>
                <a:latin typeface="Calibri" pitchFamily="34" charset="0"/>
                <a:ea typeface="Calibri" pitchFamily="34" charset="-122"/>
                <a:cs typeface="Calibri" pitchFamily="34" charset="-120"/>
              </a:rPr>
              <a:t>“Willingness to devote time and care.”</a:t>
            </a:r>
            <a:endParaRPr lang="en-US" sz="1700" dirty="0"/>
          </a:p>
          <a:p>
            <a:pPr indent="0" marL="0">
              <a:lnSpc>
                <a:spcPts val="2500"/>
              </a:lnSpc>
              <a:buNone/>
            </a:pPr>
            <a:endParaRPr lang="en-US" sz="1700" dirty="0"/>
          </a:p>
          <a:p>
            <a:pPr indent="0" marL="0">
              <a:lnSpc>
                <a:spcPts val="2500"/>
              </a:lnSpc>
              <a:buNone/>
            </a:pPr>
            <a:r>
              <a:rPr lang="en-US" sz="1700" dirty="0">
                <a:solidFill>
                  <a:srgbClr val="182620"/>
                </a:solidFill>
                <a:latin typeface="Calibri" pitchFamily="34" charset="0"/>
                <a:ea typeface="Calibri" pitchFamily="34" charset="-122"/>
                <a:cs typeface="Calibri" pitchFamily="34" charset="-120"/>
              </a:rPr>
              <a:t>Six tests. Cheapness first — nine times earnings or less — then quality relaxed, assets stricter. No size floor at all.</a:t>
            </a:r>
            <a:endParaRPr lang="en-US" sz="1700" dirty="0"/>
          </a:p>
        </p:txBody>
      </p:sp>
      <p:sp>
        <p:nvSpPr>
          <p:cNvPr id="10" name="Text 8"/>
          <p:cNvSpPr txBox="1"/>
          <p:nvPr/>
        </p:nvSpPr>
        <p:spPr>
          <a:xfrm>
            <a:off x="822960" y="5349240"/>
            <a:ext cx="10515600" cy="640080"/>
          </a:xfrm>
          <a:prstGeom prst="rect">
            <a:avLst/>
          </a:prstGeom>
          <a:noFill/>
          <a:ln/>
        </p:spPr>
        <p:txBody>
          <a:bodyPr wrap="square" lIns="0" tIns="0" rIns="0" bIns="0" rtlCol="0" anchor="ctr"/>
          <a:lstStyle/>
          <a:p>
            <a:pPr indent="0" marL="0">
              <a:buNone/>
            </a:pPr>
            <a:r>
              <a:rPr lang="en-US" sz="1900" b="1" i="1" dirty="0">
                <a:solidFill>
                  <a:srgbClr val="3E6B54"/>
                </a:solidFill>
                <a:latin typeface="Century Schoolbook" pitchFamily="34" charset="0"/>
                <a:ea typeface="Century Schoolbook" pitchFamily="34" charset="-122"/>
                <a:cs typeface="Century Schoolbook" pitchFamily="34" charset="-120"/>
              </a:rPr>
              <a:t>The extra effort buys the right to read small, dull companies the market walked past — at bargain prices only.</a:t>
            </a:r>
            <a:endParaRPr lang="en-US" sz="1900" dirty="0"/>
          </a:p>
        </p:txBody>
      </p:sp>
      <p:sp>
        <p:nvSpPr>
          <p:cNvPr id="11" name="Text 9"/>
          <p:cNvSpPr txBox="1"/>
          <p:nvPr/>
        </p:nvSpPr>
        <p:spPr>
          <a:xfrm>
            <a:off x="548640" y="6419088"/>
            <a:ext cx="3108960" cy="27432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Education, not advice.</a:t>
            </a:r>
            <a:endParaRPr lang="en-US" sz="900" dirty="0"/>
          </a:p>
        </p:txBody>
      </p:sp>
      <p:sp>
        <p:nvSpPr>
          <p:cNvPr id="12" name="Text 10"/>
          <p:cNvSpPr txBox="1"/>
          <p:nvPr/>
        </p:nvSpPr>
        <p:spPr>
          <a:xfrm>
            <a:off x="4206240" y="6419088"/>
            <a:ext cx="7406640" cy="274320"/>
          </a:xfrm>
          <a:prstGeom prst="rect">
            <a:avLst/>
          </a:prstGeom>
          <a:noFill/>
          <a:ln/>
        </p:spPr>
        <p:txBody>
          <a:bodyPr wrap="square" lIns="0" tIns="0" rIns="0" bIns="0" rtlCol="0" anchor="ctr"/>
          <a:lstStyle/>
          <a:p>
            <a:pPr algn="r" indent="0" marL="0">
              <a:buNone/>
            </a:pPr>
            <a:r>
              <a:rPr lang="en-US" sz="900" i="1" dirty="0">
                <a:solidFill>
                  <a:srgbClr val="6B7A72"/>
                </a:solidFill>
                <a:latin typeface="Calibri" pitchFamily="34" charset="0"/>
                <a:ea typeface="Calibri" pitchFamily="34" charset="-122"/>
                <a:cs typeface="Calibri" pitchFamily="34" charset="-120"/>
              </a:rPr>
              <a:t>The Intelligent Investor p. 6; ch. 15 pp. 385–386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2E9"/>
        </a:solidFill>
      </p:bgPr>
    </p:bg>
    <p:spTree>
      <p:nvGrpSpPr>
        <p:cNvPr id="1" name=""/>
        <p:cNvGrpSpPr/>
        <p:nvPr/>
      </p:nvGrpSpPr>
      <p:grpSpPr>
        <a:xfrm>
          <a:off x="0" y="0"/>
          <a:ext cx="0" cy="0"/>
          <a:chOff x="0" y="0"/>
          <a:chExt cx="0" cy="0"/>
        </a:xfrm>
      </p:grpSpPr>
      <p:sp>
        <p:nvSpPr>
          <p:cNvPr id="2" name="Text 0"/>
          <p:cNvSpPr txBox="1"/>
          <p:nvPr/>
        </p:nvSpPr>
        <p:spPr>
          <a:xfrm>
            <a:off x="822960" y="502920"/>
            <a:ext cx="9144000" cy="320040"/>
          </a:xfrm>
          <a:prstGeom prst="rect">
            <a:avLst/>
          </a:prstGeom>
          <a:noFill/>
          <a:ln/>
        </p:spPr>
        <p:txBody>
          <a:bodyPr wrap="square" lIns="0" tIns="0" rIns="0" bIns="0" rtlCol="0" anchor="ctr"/>
          <a:lstStyle/>
          <a:p>
            <a:pPr indent="0" marL="0">
              <a:buNone/>
            </a:pPr>
            <a:r>
              <a:rPr lang="en-US" sz="1200" spc="300" kern="0" dirty="0">
                <a:solidFill>
                  <a:srgbClr val="3E6B54"/>
                </a:solidFill>
                <a:latin typeface="Courier New" pitchFamily="34" charset="0"/>
                <a:ea typeface="Courier New" pitchFamily="34" charset="-122"/>
                <a:cs typeface="Courier New" pitchFamily="34" charset="-120"/>
              </a:rPr>
              <a:t>WHAT MOVED</a:t>
            </a:r>
            <a:endParaRPr lang="en-US" sz="1200" dirty="0"/>
          </a:p>
        </p:txBody>
      </p:sp>
      <p:sp>
        <p:nvSpPr>
          <p:cNvPr id="3" name="Text 1"/>
          <p:cNvSpPr txBox="1"/>
          <p:nvPr/>
        </p:nvSpPr>
        <p:spPr>
          <a:xfrm>
            <a:off x="822960" y="868680"/>
            <a:ext cx="10515600" cy="868680"/>
          </a:xfrm>
          <a:prstGeom prst="rect">
            <a:avLst/>
          </a:prstGeom>
          <a:noFill/>
          <a:ln/>
        </p:spPr>
        <p:txBody>
          <a:bodyPr wrap="square" lIns="0" tIns="0" rIns="0" bIns="0" rtlCol="0" anchor="ctr"/>
          <a:lstStyle/>
          <a:p>
            <a:pPr indent="0" marL="0">
              <a:buNone/>
            </a:pPr>
            <a:r>
              <a:rPr lang="en-US" sz="3600" b="1" dirty="0">
                <a:solidFill>
                  <a:srgbClr val="182620"/>
                </a:solidFill>
                <a:latin typeface="Century Schoolbook" pitchFamily="34" charset="0"/>
                <a:ea typeface="Century Schoolbook" pitchFamily="34" charset="-122"/>
                <a:cs typeface="Century Schoolbook" pitchFamily="34" charset="-120"/>
              </a:rPr>
              <a:t>Relaxed on quality, stricter on price</a:t>
            </a:r>
            <a:endParaRPr lang="en-US" sz="3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920240"/>
          <a:ext cx="10515600" cy="914400"/>
        </p:xfrm>
        <a:graphic>
          <a:graphicData uri="http://schemas.openxmlformats.org/drawingml/2006/table">
            <a:tbl>
              <a:tblPr/>
              <a:tblGrid>
                <a:gridCol w="2011680"/>
                <a:gridCol w="3566160"/>
                <a:gridCol w="3566160"/>
                <a:gridCol w="1371600"/>
              </a:tblGrid>
              <a:tr h="457200">
                <a:tc>
                  <a:txBody>
                    <a:bodyPr/>
                    <a:lstStyle/>
                    <a:p>
                      <a:pPr indent="0" marL="0">
                        <a:buNone/>
                      </a:pPr>
                      <a:r>
                        <a:rPr lang="en-US" sz="1100" b="1" dirty="0">
                          <a:solidFill>
                            <a:srgbClr val="FFFFFF"/>
                          </a:solidFill>
                          <a:latin typeface="Courier New" pitchFamily="34" charset="0"/>
                          <a:ea typeface="Courier New" pitchFamily="34" charset="-122"/>
                          <a:cs typeface="Courier New" pitchFamily="34" charset="-120"/>
                        </a:rPr>
                        <a:t>Test</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182620"/>
                    </a:solidFill>
                  </a:tcPr>
                </a:tc>
                <a:tc>
                  <a:txBody>
                    <a:bodyPr/>
                    <a:lstStyle/>
                    <a:p>
                      <a:pPr indent="0" marL="0">
                        <a:buNone/>
                      </a:pPr>
                      <a:r>
                        <a:rPr lang="en-US" sz="1100" b="1" dirty="0">
                          <a:solidFill>
                            <a:srgbClr val="FFFFFF"/>
                          </a:solidFill>
                          <a:latin typeface="Courier New" pitchFamily="34" charset="0"/>
                          <a:ea typeface="Courier New" pitchFamily="34" charset="-122"/>
                          <a:cs typeface="Courier New" pitchFamily="34" charset="-120"/>
                        </a:rPr>
                        <a:t>Defensive (ch. 14)</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182620"/>
                    </a:solidFill>
                  </a:tcPr>
                </a:tc>
                <a:tc>
                  <a:txBody>
                    <a:bodyPr/>
                    <a:lstStyle/>
                    <a:p>
                      <a:pPr indent="0" marL="0">
                        <a:buNone/>
                      </a:pPr>
                      <a:r>
                        <a:rPr lang="en-US" sz="1100" b="1" dirty="0">
                          <a:solidFill>
                            <a:srgbClr val="FFFFFF"/>
                          </a:solidFill>
                          <a:latin typeface="Courier New" pitchFamily="34" charset="0"/>
                          <a:ea typeface="Courier New" pitchFamily="34" charset="-122"/>
                          <a:cs typeface="Courier New" pitchFamily="34" charset="-120"/>
                        </a:rPr>
                        <a:t>Enterprising (ch. 15)</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182620"/>
                    </a:solidFill>
                  </a:tcPr>
                </a:tc>
                <a:tc>
                  <a:txBody>
                    <a:bodyPr/>
                    <a:lstStyle/>
                    <a:p>
                      <a:pPr indent="0" marL="0">
                        <a:buNone/>
                      </a:pPr>
                      <a:r>
                        <a:rPr lang="en-US" sz="1100" b="1" dirty="0">
                          <a:solidFill>
                            <a:srgbClr val="FFFFFF"/>
                          </a:solidFill>
                          <a:latin typeface="Courier New" pitchFamily="34" charset="0"/>
                          <a:ea typeface="Courier New" pitchFamily="34" charset="-122"/>
                          <a:cs typeface="Courier New" pitchFamily="34" charset="-120"/>
                        </a:rPr>
                        <a:t>Direction</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182620"/>
                    </a:solidFill>
                  </a:tcPr>
                </a:tc>
              </a:tr>
              <a:tr h="457200">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Earnings multiple</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FFFFF"/>
                    </a:solidFill>
                  </a:tcPr>
                </a:tc>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 15× on a 3-year average</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FFFFF"/>
                    </a:solidFill>
                  </a:tcPr>
                </a:tc>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 9× on the latest year — applied FIRST</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FFFFF"/>
                    </a:solidFill>
                  </a:tcPr>
                </a:tc>
                <a:tc>
                  <a:txBody>
                    <a:bodyPr/>
                    <a:lstStyle/>
                    <a:p>
                      <a:pPr indent="0" marL="0">
                        <a:buNone/>
                      </a:pPr>
                      <a:r>
                        <a:rPr lang="en-US" sz="1350" b="1" dirty="0">
                          <a:solidFill>
                            <a:srgbClr val="B4382E"/>
                          </a:solidFill>
                          <a:latin typeface="Calibri" pitchFamily="34" charset="0"/>
                          <a:ea typeface="Calibri" pitchFamily="34" charset="-122"/>
                          <a:cs typeface="Calibri" pitchFamily="34" charset="-120"/>
                        </a:rPr>
                        <a:t>stricter</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Strength</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6F8F4"/>
                    </a:solidFill>
                  </a:tcPr>
                </a:tc>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CR ≥ 2; debt ≤ working capital</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6F8F4"/>
                    </a:solidFill>
                  </a:tcPr>
                </a:tc>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CR ≥ 1.5; debt ≤ 110% of WC</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6F8F4"/>
                    </a:solidFill>
                  </a:tcPr>
                </a:tc>
                <a:tc>
                  <a:txBody>
                    <a:bodyPr/>
                    <a:lstStyle/>
                    <a:p>
                      <a:pPr indent="0" marL="0">
                        <a:buNone/>
                      </a:pPr>
                      <a:r>
                        <a:rPr lang="en-US" sz="1350" b="1" dirty="0">
                          <a:solidFill>
                            <a:srgbClr val="3E6B54"/>
                          </a:solidFill>
                          <a:latin typeface="Calibri" pitchFamily="34" charset="0"/>
                          <a:ea typeface="Calibri" pitchFamily="34" charset="-122"/>
                          <a:cs typeface="Calibri" pitchFamily="34" charset="-120"/>
                        </a:rPr>
                        <a:t>relaxed</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6F8F4"/>
                    </a:solidFill>
                  </a:tcPr>
                </a:tc>
              </a:tr>
              <a:tr h="457200">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Stability</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FFFFF"/>
                    </a:solidFill>
                  </a:tcPr>
                </a:tc>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No loss in 10 years (we hold 5)</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FFFFF"/>
                    </a:solidFill>
                  </a:tcPr>
                </a:tc>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No loss in 5 years</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FFFFF"/>
                    </a:solidFill>
                  </a:tcPr>
                </a:tc>
                <a:tc>
                  <a:txBody>
                    <a:bodyPr/>
                    <a:lstStyle/>
                    <a:p>
                      <a:pPr indent="0" marL="0">
                        <a:buNone/>
                      </a:pPr>
                      <a:r>
                        <a:rPr lang="en-US" sz="1350" b="1" dirty="0">
                          <a:solidFill>
                            <a:srgbClr val="3E6B54"/>
                          </a:solidFill>
                          <a:latin typeface="Calibri" pitchFamily="34" charset="0"/>
                          <a:ea typeface="Calibri" pitchFamily="34" charset="-122"/>
                          <a:cs typeface="Calibri" pitchFamily="34" charset="-120"/>
                        </a:rPr>
                        <a:t>relaxed</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Dividends</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6F8F4"/>
                    </a:solidFill>
                  </a:tcPr>
                </a:tc>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20 years unbroken (we ask 10)</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6F8F4"/>
                    </a:solidFill>
                  </a:tcPr>
                </a:tc>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Some current dividend</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6F8F4"/>
                    </a:solidFill>
                  </a:tcPr>
                </a:tc>
                <a:tc>
                  <a:txBody>
                    <a:bodyPr/>
                    <a:lstStyle/>
                    <a:p>
                      <a:pPr indent="0" marL="0">
                        <a:buNone/>
                      </a:pPr>
                      <a:r>
                        <a:rPr lang="en-US" sz="1350" b="1" dirty="0">
                          <a:solidFill>
                            <a:srgbClr val="3E6B54"/>
                          </a:solidFill>
                          <a:latin typeface="Calibri" pitchFamily="34" charset="0"/>
                          <a:ea typeface="Calibri" pitchFamily="34" charset="-122"/>
                          <a:cs typeface="Calibri" pitchFamily="34" charset="-120"/>
                        </a:rPr>
                        <a:t>relaxed</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6F8F4"/>
                    </a:solidFill>
                  </a:tcPr>
                </a:tc>
              </a:tr>
              <a:tr h="457200">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Growth</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FFFFF"/>
                    </a:solidFill>
                  </a:tcPr>
                </a:tc>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+⅓ over 10 years</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FFFFF"/>
                    </a:solidFill>
                  </a:tcPr>
                </a:tc>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Higher than 5 years ago</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FFFFF"/>
                    </a:solidFill>
                  </a:tcPr>
                </a:tc>
                <a:tc>
                  <a:txBody>
                    <a:bodyPr/>
                    <a:lstStyle/>
                    <a:p>
                      <a:pPr indent="0" marL="0">
                        <a:buNone/>
                      </a:pPr>
                      <a:r>
                        <a:rPr lang="en-US" sz="1350" b="1" dirty="0">
                          <a:solidFill>
                            <a:srgbClr val="3E6B54"/>
                          </a:solidFill>
                          <a:latin typeface="Calibri" pitchFamily="34" charset="0"/>
                          <a:ea typeface="Calibri" pitchFamily="34" charset="-122"/>
                          <a:cs typeface="Calibri" pitchFamily="34" charset="-120"/>
                        </a:rPr>
                        <a:t>relaxed</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Assets</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6F8F4"/>
                    </a:solidFill>
                  </a:tcPr>
                </a:tc>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 1.5× book (or the 22.5 product)</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6F8F4"/>
                    </a:solidFill>
                  </a:tcPr>
                </a:tc>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&lt; 1.2× TANGIBLE book</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6F8F4"/>
                    </a:solidFill>
                  </a:tcPr>
                </a:tc>
                <a:tc>
                  <a:txBody>
                    <a:bodyPr/>
                    <a:lstStyle/>
                    <a:p>
                      <a:pPr indent="0" marL="0">
                        <a:buNone/>
                      </a:pPr>
                      <a:r>
                        <a:rPr lang="en-US" sz="1350" b="1" dirty="0">
                          <a:solidFill>
                            <a:srgbClr val="B4382E"/>
                          </a:solidFill>
                          <a:latin typeface="Calibri" pitchFamily="34" charset="0"/>
                          <a:ea typeface="Calibri" pitchFamily="34" charset="-122"/>
                          <a:cs typeface="Calibri" pitchFamily="34" charset="-120"/>
                        </a:rPr>
                        <a:t>stricter</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6F8F4"/>
                    </a:solidFill>
                  </a:tcPr>
                </a:tc>
              </a:tr>
              <a:tr h="457200">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Size</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FFFFF"/>
                    </a:solidFill>
                  </a:tcPr>
                </a:tc>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Sales ≥ $800m today</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FFFFF"/>
                    </a:solidFill>
                  </a:tcPr>
                </a:tc>
                <a:tc>
                  <a:txBody>
                    <a:bodyPr/>
                    <a:lstStyle/>
                    <a:p>
                      <a:pPr indent="0" marL="0">
                        <a:buNone/>
                      </a:pPr>
                      <a:r>
                        <a:rPr lang="en-US" sz="1350" dirty="0">
                          <a:solidFill>
                            <a:srgbClr val="182620"/>
                          </a:solidFill>
                          <a:latin typeface="Calibri" pitchFamily="34" charset="0"/>
                          <a:ea typeface="Calibri" pitchFamily="34" charset="-122"/>
                          <a:cs typeface="Calibri" pitchFamily="34" charset="-120"/>
                        </a:rPr>
                        <a:t>No size test</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FFFFF"/>
                    </a:solidFill>
                  </a:tcPr>
                </a:tc>
                <a:tc>
                  <a:txBody>
                    <a:bodyPr/>
                    <a:lstStyle/>
                    <a:p>
                      <a:pPr indent="0" marL="0">
                        <a:buNone/>
                      </a:pPr>
                      <a:r>
                        <a:rPr lang="en-US" sz="1350" b="1" dirty="0">
                          <a:solidFill>
                            <a:srgbClr val="3E6B54"/>
                          </a:solidFill>
                          <a:latin typeface="Calibri" pitchFamily="34" charset="0"/>
                          <a:ea typeface="Calibri" pitchFamily="34" charset="-122"/>
                          <a:cs typeface="Calibri" pitchFamily="34" charset="-120"/>
                        </a:rPr>
                        <a:t>removed</a:t>
                      </a:r>
                      <a:endParaRPr lang="en-US" sz="1350" dirty="0">
                        <a:latin typeface="Calibri" charset="0"/>
                        <a:ea typeface="Calibri" charset="0"/>
                        <a:cs typeface="Calibri" charset="0"/>
                      </a:endParaRPr>
                    </a:p>
                  </a:txBody>
                  <a:tcPr marL="54864" marR="54864" marT="54864" marB="54864" anchor="ctr">
                    <a:lnL w="9525" cap="flat" cmpd="sng" algn="ctr">
                      <a:solidFill>
                        <a:srgbClr val="B7C6D4"/>
                      </a:solidFill>
                      <a:prstDash val="solid"/>
                      <a:round/>
                      <a:headEnd type="none" w="med" len="med"/>
                      <a:tailEnd type="none" w="med" len="med"/>
                    </a:lnL>
                    <a:lnR w="9525" cap="flat" cmpd="sng" algn="ctr">
                      <a:solidFill>
                        <a:srgbClr val="B7C6D4"/>
                      </a:solidFill>
                      <a:prstDash val="solid"/>
                      <a:round/>
                      <a:headEnd type="none" w="med" len="med"/>
                      <a:tailEnd type="none" w="med" len="med"/>
                    </a:lnR>
                    <a:lnT w="9525" cap="flat" cmpd="sng" algn="ctr">
                      <a:solidFill>
                        <a:srgbClr val="B7C6D4"/>
                      </a:solidFill>
                      <a:prstDash val="solid"/>
                      <a:round/>
                      <a:headEnd type="none" w="med" len="med"/>
                      <a:tailEnd type="none" w="med" len="med"/>
                    </a:lnT>
                    <a:lnB w="9525" cap="flat" cmpd="sng" algn="ctr">
                      <a:solidFill>
                        <a:srgbClr val="B7C6D4"/>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22960" y="5715000"/>
            <a:ext cx="10515600" cy="548640"/>
          </a:xfrm>
          <a:prstGeom prst="rect">
            <a:avLst/>
          </a:prstGeom>
          <a:noFill/>
          <a:ln/>
        </p:spPr>
        <p:txBody>
          <a:bodyPr wrap="square" lIns="0" tIns="0" rIns="0" bIns="0" rtlCol="0" anchor="ctr"/>
          <a:lstStyle/>
          <a:p>
            <a:pPr indent="0" marL="0">
              <a:buNone/>
            </a:pPr>
            <a:r>
              <a:rPr lang="en-US" sz="1600" i="1" dirty="0">
                <a:solidFill>
                  <a:srgbClr val="3E6B54"/>
                </a:solidFill>
                <a:latin typeface="Century Schoolbook" pitchFamily="34" charset="0"/>
                <a:ea typeface="Century Schoolbook" pitchFamily="34" charset="-122"/>
                <a:cs typeface="Century Schoolbook" pitchFamily="34" charset="-120"/>
              </a:rPr>
              <a:t>Alphabet and Meta: fail the ten-year record, pass “some current dividend”. Same history, two correct answers.</a:t>
            </a:r>
            <a:endParaRPr lang="en-US" sz="1600" dirty="0"/>
          </a:p>
        </p:txBody>
      </p:sp>
      <p:sp>
        <p:nvSpPr>
          <p:cNvPr id="6" name="Text 3"/>
          <p:cNvSpPr txBox="1"/>
          <p:nvPr/>
        </p:nvSpPr>
        <p:spPr>
          <a:xfrm>
            <a:off x="548640" y="6419088"/>
            <a:ext cx="3108960" cy="27432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Education, not advice.</a:t>
            </a:r>
            <a:endParaRPr lang="en-US" sz="900" dirty="0"/>
          </a:p>
        </p:txBody>
      </p:sp>
      <p:sp>
        <p:nvSpPr>
          <p:cNvPr id="7" name="Text 4"/>
          <p:cNvSpPr txBox="1"/>
          <p:nvPr/>
        </p:nvSpPr>
        <p:spPr>
          <a:xfrm>
            <a:off x="4206240" y="6419088"/>
            <a:ext cx="7406640" cy="274320"/>
          </a:xfrm>
          <a:prstGeom prst="rect">
            <a:avLst/>
          </a:prstGeom>
          <a:noFill/>
          <a:ln/>
        </p:spPr>
        <p:txBody>
          <a:bodyPr wrap="square" lIns="0" tIns="0" rIns="0" bIns="0" rtlCol="0" anchor="ctr"/>
          <a:lstStyle/>
          <a:p>
            <a:pPr algn="r" indent="0" marL="0">
              <a:buNone/>
            </a:pPr>
            <a:r>
              <a:rPr lang="en-US" sz="900" i="1" dirty="0">
                <a:solidFill>
                  <a:srgbClr val="6B7A72"/>
                </a:solidFill>
                <a:latin typeface="Calibri" pitchFamily="34" charset="0"/>
                <a:ea typeface="Calibri" pitchFamily="34" charset="-122"/>
                <a:cs typeface="Calibri" pitchFamily="34" charset="-120"/>
              </a:rPr>
              <a:t>docs/lessons/the-enterprising-screen.md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82620"/>
        </a:solidFill>
      </p:bgPr>
    </p:bg>
    <p:spTree>
      <p:nvGrpSpPr>
        <p:cNvPr id="1" name=""/>
        <p:cNvGrpSpPr/>
        <p:nvPr/>
      </p:nvGrpSpPr>
      <p:grpSpPr>
        <a:xfrm>
          <a:off x="0" y="0"/>
          <a:ext cx="0" cy="0"/>
          <a:chOff x="0" y="0"/>
          <a:chExt cx="0" cy="0"/>
        </a:xfrm>
      </p:grpSpPr>
      <p:sp>
        <p:nvSpPr>
          <p:cNvPr id="2" name="Text 0"/>
          <p:cNvSpPr txBox="1"/>
          <p:nvPr/>
        </p:nvSpPr>
        <p:spPr>
          <a:xfrm>
            <a:off x="822960" y="731520"/>
            <a:ext cx="9144000" cy="365760"/>
          </a:xfrm>
          <a:prstGeom prst="rect">
            <a:avLst/>
          </a:prstGeom>
          <a:noFill/>
          <a:ln/>
        </p:spPr>
        <p:txBody>
          <a:bodyPr wrap="square" lIns="0" tIns="0" rIns="0" bIns="0" rtlCol="0" anchor="ctr"/>
          <a:lstStyle/>
          <a:p>
            <a:pPr indent="0" marL="0">
              <a:buNone/>
            </a:pPr>
            <a:r>
              <a:rPr lang="en-US" sz="1300" spc="300" kern="0" dirty="0">
                <a:solidFill>
                  <a:srgbClr val="B7C6D4"/>
                </a:solidFill>
                <a:latin typeface="Courier New" pitchFamily="34" charset="0"/>
                <a:ea typeface="Courier New" pitchFamily="34" charset="-122"/>
                <a:cs typeface="Courier New" pitchFamily="34" charset="-120"/>
              </a:rPr>
              <a:t>LIVE</a:t>
            </a:r>
            <a:endParaRPr lang="en-US" sz="1300" dirty="0"/>
          </a:p>
        </p:txBody>
      </p:sp>
      <p:sp>
        <p:nvSpPr>
          <p:cNvPr id="3" name="Text 1"/>
          <p:cNvSpPr txBox="1"/>
          <p:nvPr/>
        </p:nvSpPr>
        <p:spPr>
          <a:xfrm>
            <a:off x="822960" y="1280160"/>
            <a:ext cx="10515600" cy="914400"/>
          </a:xfrm>
          <a:prstGeom prst="rect">
            <a:avLst/>
          </a:prstGeom>
          <a:noFill/>
          <a:ln/>
        </p:spPr>
        <p:txBody>
          <a:bodyPr wrap="square" lIns="0" tIns="0" rIns="0" bIns="0" rtlCol="0" anchor="ctr"/>
          <a:lstStyle/>
          <a:p>
            <a:pPr indent="0" marL="0">
              <a:buNone/>
            </a:pPr>
            <a:r>
              <a:rPr lang="en-US" sz="4600" b="1" dirty="0">
                <a:solidFill>
                  <a:srgbClr val="EEF2E9"/>
                </a:solidFill>
                <a:latin typeface="Century Schoolbook" pitchFamily="34" charset="0"/>
                <a:ea typeface="Century Schoolbook" pitchFamily="34" charset="-122"/>
                <a:cs typeface="Century Schoolbook" pitchFamily="34" charset="-120"/>
              </a:rPr>
              <a:t>Two screens, same books</a:t>
            </a:r>
            <a:endParaRPr lang="en-US" sz="4600" dirty="0"/>
          </a:p>
        </p:txBody>
      </p:sp>
      <p:sp>
        <p:nvSpPr>
          <p:cNvPr id="4" name="Shape 2"/>
          <p:cNvSpPr/>
          <p:nvPr/>
        </p:nvSpPr>
        <p:spPr>
          <a:xfrm>
            <a:off x="822960" y="2514600"/>
            <a:ext cx="5029200" cy="914400"/>
          </a:xfrm>
          <a:prstGeom prst="roundRect">
            <a:avLst>
              <a:gd name="adj" fmla="val 6000"/>
            </a:avLst>
          </a:prstGeom>
          <a:solidFill>
            <a:srgbClr val="223730"/>
          </a:solidFill>
          <a:ln w="19050">
            <a:solidFill>
              <a:srgbClr val="3E6B54"/>
            </a:solidFill>
            <a:prstDash val="solid"/>
          </a:ln>
        </p:spPr>
      </p:sp>
      <p:sp>
        <p:nvSpPr>
          <p:cNvPr id="5" name="Text 3"/>
          <p:cNvSpPr txBox="1"/>
          <p:nvPr/>
        </p:nvSpPr>
        <p:spPr>
          <a:xfrm>
            <a:off x="1097280" y="2697480"/>
            <a:ext cx="4572000" cy="548640"/>
          </a:xfrm>
          <a:prstGeom prst="rect">
            <a:avLst/>
          </a:prstGeom>
          <a:noFill/>
          <a:ln/>
        </p:spPr>
        <p:txBody>
          <a:bodyPr wrap="square" lIns="0" tIns="0" rIns="0" bIns="0" rtlCol="0" anchor="ctr"/>
          <a:lstStyle/>
          <a:p>
            <a:pPr indent="0" marL="0">
              <a:buNone/>
            </a:pPr>
            <a:r>
              <a:rPr lang="en-US" sz="1900" dirty="0">
                <a:solidFill>
                  <a:srgbClr val="EEF2E9"/>
                </a:solidFill>
                <a:latin typeface="Courier New" pitchFamily="34" charset="0"/>
                <a:ea typeface="Courier New" pitchFamily="34" charset="-122"/>
                <a:cs typeface="Courier New" pitchFamily="34" charset="-120"/>
              </a:rPr>
              <a:t>[ course URL ]/screen</a:t>
            </a:r>
            <a:endParaRPr lang="en-US" sz="1900" dirty="0"/>
          </a:p>
        </p:txBody>
      </p:sp>
      <p:sp>
        <p:nvSpPr>
          <p:cNvPr id="6" name="Shape 4"/>
          <p:cNvSpPr/>
          <p:nvPr/>
        </p:nvSpPr>
        <p:spPr>
          <a:xfrm>
            <a:off x="6309360" y="2514600"/>
            <a:ext cx="5029200" cy="914400"/>
          </a:xfrm>
          <a:prstGeom prst="roundRect">
            <a:avLst>
              <a:gd name="adj" fmla="val 6000"/>
            </a:avLst>
          </a:prstGeom>
          <a:solidFill>
            <a:srgbClr val="223730"/>
          </a:solidFill>
          <a:ln w="19050">
            <a:solidFill>
              <a:srgbClr val="3E6B54"/>
            </a:solidFill>
            <a:prstDash val="solid"/>
          </a:ln>
        </p:spPr>
      </p:sp>
      <p:sp>
        <p:nvSpPr>
          <p:cNvPr id="7" name="Text 5"/>
          <p:cNvSpPr txBox="1"/>
          <p:nvPr/>
        </p:nvSpPr>
        <p:spPr>
          <a:xfrm>
            <a:off x="6583680" y="2697480"/>
            <a:ext cx="4663440" cy="548640"/>
          </a:xfrm>
          <a:prstGeom prst="rect">
            <a:avLst/>
          </a:prstGeom>
          <a:noFill/>
          <a:ln/>
        </p:spPr>
        <p:txBody>
          <a:bodyPr wrap="square" lIns="0" tIns="0" rIns="0" bIns="0" rtlCol="0" anchor="ctr"/>
          <a:lstStyle/>
          <a:p>
            <a:pPr indent="0" marL="0">
              <a:buNone/>
            </a:pPr>
            <a:r>
              <a:rPr lang="en-US" sz="1900" dirty="0">
                <a:solidFill>
                  <a:srgbClr val="EEF2E9"/>
                </a:solidFill>
                <a:latin typeface="Courier New" pitchFamily="34" charset="0"/>
                <a:ea typeface="Courier New" pitchFamily="34" charset="-122"/>
                <a:cs typeface="Courier New" pitchFamily="34" charset="-120"/>
              </a:rPr>
              <a:t>[ course URL ]/screen/enterprising</a:t>
            </a:r>
            <a:endParaRPr lang="en-US" sz="1900" dirty="0"/>
          </a:p>
        </p:txBody>
      </p:sp>
      <p:sp>
        <p:nvSpPr>
          <p:cNvPr id="8" name="Text 6"/>
          <p:cNvSpPr txBox="1"/>
          <p:nvPr/>
        </p:nvSpPr>
        <p:spPr>
          <a:xfrm>
            <a:off x="822960" y="3794760"/>
            <a:ext cx="10424160" cy="1371600"/>
          </a:xfrm>
          <a:prstGeom prst="rect">
            <a:avLst/>
          </a:prstGeom>
          <a:noFill/>
          <a:ln/>
        </p:spPr>
        <p:txBody>
          <a:bodyPr wrap="square" lIns="0" tIns="0" rIns="0" bIns="0" rtlCol="0" anchor="ctr"/>
          <a:lstStyle/>
          <a:p>
            <a:pPr indent="0" marL="0">
              <a:lnSpc>
                <a:spcPts val="2800"/>
              </a:lnSpc>
              <a:buNone/>
            </a:pPr>
            <a:r>
              <a:rPr lang="en-US" sz="1900" b="1" dirty="0">
                <a:solidFill>
                  <a:srgbClr val="EEF2E9"/>
                </a:solidFill>
                <a:latin typeface="Calibri" pitchFamily="34" charset="0"/>
                <a:ea typeface="Calibri" pitchFamily="34" charset="-122"/>
                <a:cs typeface="Calibri" pitchFamily="34" charset="-120"/>
              </a:rPr>
              <a:t>Read the footers first. </a:t>
            </a:r>
            <a:pPr indent="0" marL="0">
              <a:lnSpc>
                <a:spcPts val="2800"/>
              </a:lnSpc>
              <a:buNone/>
            </a:pPr>
            <a:r>
              <a:rPr lang="en-US" sz="1900" dirty="0">
                <a:solidFill>
                  <a:srgbClr val="C9D6CD"/>
                </a:solidFill>
                <a:latin typeface="Calibri" pitchFamily="34" charset="0"/>
                <a:ea typeface="Calibri" pitchFamily="34" charset="-122"/>
                <a:cs typeface="Calibri" pitchFamily="34" charset="-120"/>
              </a:rPr>
              <a:t>On 17 Oct 2026: 37 of 38 failed the first cut; 38 of 38 failed tangible book — banks included. Who passes one screen and fails the other, and why?</a:t>
            </a:r>
            <a:endParaRPr lang="en-US" sz="1900" dirty="0"/>
          </a:p>
        </p:txBody>
      </p:sp>
      <p:sp>
        <p:nvSpPr>
          <p:cNvPr id="9" name="Text 7"/>
          <p:cNvSpPr txBox="1"/>
          <p:nvPr/>
        </p:nvSpPr>
        <p:spPr>
          <a:xfrm>
            <a:off x="822960" y="5394960"/>
            <a:ext cx="10424160" cy="822960"/>
          </a:xfrm>
          <a:prstGeom prst="rect">
            <a:avLst/>
          </a:prstGeom>
          <a:noFill/>
          <a:ln/>
        </p:spPr>
        <p:txBody>
          <a:bodyPr wrap="square" lIns="0" tIns="0" rIns="0" bIns="0" rtlCol="0" anchor="ctr"/>
          <a:lstStyle/>
          <a:p>
            <a:pPr indent="0" marL="0">
              <a:lnSpc>
                <a:spcPts val="2400"/>
              </a:lnSpc>
              <a:buNone/>
            </a:pPr>
            <a:r>
              <a:rPr lang="en-US" sz="1700" i="1" dirty="0">
                <a:solidFill>
                  <a:srgbClr val="9DBCA9"/>
                </a:solidFill>
                <a:latin typeface="Century Schoolbook" pitchFamily="34" charset="0"/>
                <a:ea typeface="Century Schoolbook" pitchFamily="34" charset="-122"/>
                <a:cs typeface="Century Schoolbook" pitchFamily="34" charset="-120"/>
              </a:rPr>
              <a:t>Graham, 1970: about 150 of 4,500 passed all six. Then “a third selection… one out of five” — by judgment. Candidates are a reading list.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2E9"/>
        </a:solidFill>
      </p:bgPr>
    </p:bg>
    <p:spTree>
      <p:nvGrpSpPr>
        <p:cNvPr id="1" name=""/>
        <p:cNvGrpSpPr/>
        <p:nvPr/>
      </p:nvGrpSpPr>
      <p:grpSpPr>
        <a:xfrm>
          <a:off x="0" y="0"/>
          <a:ext cx="0" cy="0"/>
          <a:chOff x="0" y="0"/>
          <a:chExt cx="0" cy="0"/>
        </a:xfrm>
      </p:grpSpPr>
      <p:sp>
        <p:nvSpPr>
          <p:cNvPr id="2" name="Text 0"/>
          <p:cNvSpPr txBox="1"/>
          <p:nvPr/>
        </p:nvSpPr>
        <p:spPr>
          <a:xfrm>
            <a:off x="822960" y="502920"/>
            <a:ext cx="9144000" cy="320040"/>
          </a:xfrm>
          <a:prstGeom prst="rect">
            <a:avLst/>
          </a:prstGeom>
          <a:noFill/>
          <a:ln/>
        </p:spPr>
        <p:txBody>
          <a:bodyPr wrap="square" lIns="0" tIns="0" rIns="0" bIns="0" rtlCol="0" anchor="ctr"/>
          <a:lstStyle/>
          <a:p>
            <a:pPr indent="0" marL="0">
              <a:buNone/>
            </a:pPr>
            <a:r>
              <a:rPr lang="en-US" sz="1200" spc="300" kern="0" dirty="0">
                <a:solidFill>
                  <a:srgbClr val="3E6B54"/>
                </a:solidFill>
                <a:latin typeface="Courier New" pitchFamily="34" charset="0"/>
                <a:ea typeface="Courier New" pitchFamily="34" charset="-122"/>
                <a:cs typeface="Courier New" pitchFamily="34" charset="-120"/>
              </a:rPr>
              <a:t>0:35 — STORIES VERSUS NUMBERS</a:t>
            </a:r>
            <a:endParaRPr lang="en-US" sz="1200" dirty="0"/>
          </a:p>
        </p:txBody>
      </p:sp>
      <p:sp>
        <p:nvSpPr>
          <p:cNvPr id="3" name="Text 1"/>
          <p:cNvSpPr txBox="1"/>
          <p:nvPr/>
        </p:nvSpPr>
        <p:spPr>
          <a:xfrm>
            <a:off x="822960" y="868680"/>
            <a:ext cx="10515600" cy="868680"/>
          </a:xfrm>
          <a:prstGeom prst="rect">
            <a:avLst/>
          </a:prstGeom>
          <a:noFill/>
          <a:ln/>
        </p:spPr>
        <p:txBody>
          <a:bodyPr wrap="square" lIns="0" tIns="0" rIns="0" bIns="0" rtlCol="0" anchor="ctr"/>
          <a:lstStyle/>
          <a:p>
            <a:pPr indent="0" marL="0">
              <a:buNone/>
            </a:pPr>
            <a:r>
              <a:rPr lang="en-US" sz="3600" b="1" dirty="0">
                <a:solidFill>
                  <a:srgbClr val="182620"/>
                </a:solidFill>
                <a:latin typeface="Century Schoolbook" pitchFamily="34" charset="0"/>
                <a:ea typeface="Century Schoolbook" pitchFamily="34" charset="-122"/>
                <a:cs typeface="Century Schoolbook" pitchFamily="34" charset="-120"/>
              </a:rPr>
              <a:t>Every tip is a story</a:t>
            </a:r>
            <a:endParaRPr lang="en-US" sz="3600" dirty="0"/>
          </a:p>
        </p:txBody>
      </p:sp>
      <p:sp>
        <p:nvSpPr>
          <p:cNvPr id="4" name="Shape 2"/>
          <p:cNvSpPr/>
          <p:nvPr/>
        </p:nvSpPr>
        <p:spPr>
          <a:xfrm>
            <a:off x="822960" y="2103120"/>
            <a:ext cx="3300984" cy="2651760"/>
          </a:xfrm>
          <a:prstGeom prst="roundRect">
            <a:avLst>
              <a:gd name="adj" fmla="val 2069"/>
            </a:avLst>
          </a:prstGeom>
          <a:solidFill>
            <a:srgbClr val="FFFFFF"/>
          </a:solidFill>
          <a:ln w="12700">
            <a:solidFill>
              <a:srgbClr val="B7C6D4"/>
            </a:solidFill>
            <a:prstDash val="solid"/>
          </a:ln>
          <a:effectLst>
            <a:outerShdw sx="100000" sy="100000" kx="0" ky="0" algn="bl" rotWithShape="0" blurRad="76200" dist="25400" dir="5400000">
              <a:srgbClr val="182620">
                <a:alpha val="12000"/>
              </a:srgbClr>
            </a:outerShdw>
          </a:effectLst>
        </p:spPr>
      </p:sp>
      <p:sp>
        <p:nvSpPr>
          <p:cNvPr id="5" name="Text 3"/>
          <p:cNvSpPr txBox="1"/>
          <p:nvPr/>
        </p:nvSpPr>
        <p:spPr>
          <a:xfrm>
            <a:off x="1051560" y="2286000"/>
            <a:ext cx="2843784" cy="566928"/>
          </a:xfrm>
          <a:prstGeom prst="rect">
            <a:avLst/>
          </a:prstGeom>
          <a:noFill/>
          <a:ln/>
        </p:spPr>
        <p:txBody>
          <a:bodyPr wrap="square" lIns="0" tIns="0" rIns="0" bIns="0" rtlCol="0" anchor="ctr"/>
          <a:lstStyle/>
          <a:p>
            <a:pPr indent="0" marL="0">
              <a:buNone/>
            </a:pPr>
            <a:r>
              <a:rPr lang="en-US" sz="1700" b="1" dirty="0">
                <a:solidFill>
                  <a:srgbClr val="B4382E"/>
                </a:solidFill>
                <a:latin typeface="Calibri" pitchFamily="34" charset="0"/>
                <a:ea typeface="Calibri" pitchFamily="34" charset="-122"/>
                <a:cs typeface="Calibri" pitchFamily="34" charset="-120"/>
              </a:rPr>
              <a:t>Mr. Market, 2026</a:t>
            </a:r>
            <a:endParaRPr lang="en-US" sz="1700" dirty="0"/>
          </a:p>
        </p:txBody>
      </p:sp>
      <p:sp>
        <p:nvSpPr>
          <p:cNvPr id="6" name="Text 4"/>
          <p:cNvSpPr txBox="1"/>
          <p:nvPr/>
        </p:nvSpPr>
        <p:spPr>
          <a:xfrm>
            <a:off x="1051560" y="2852928"/>
            <a:ext cx="2843784" cy="1691640"/>
          </a:xfrm>
          <a:prstGeom prst="rect">
            <a:avLst/>
          </a:prstGeom>
          <a:noFill/>
          <a:ln/>
        </p:spPr>
        <p:txBody>
          <a:bodyPr wrap="square" lIns="0" tIns="0" rIns="0" bIns="0" rtlCol="0" anchor="ctr"/>
          <a:lstStyle/>
          <a:p>
            <a:pPr indent="0" marL="0">
              <a:lnSpc>
                <a:spcPts val="1728"/>
              </a:lnSpc>
              <a:buNone/>
            </a:pPr>
            <a:r>
              <a:rPr lang="en-US" sz="1350" dirty="0">
                <a:solidFill>
                  <a:srgbClr val="182620"/>
                </a:solidFill>
                <a:latin typeface="Calibri" pitchFamily="34" charset="0"/>
                <a:ea typeface="Calibri" pitchFamily="34" charset="-122"/>
                <a:cs typeface="Calibri" pitchFamily="34" charset="-120"/>
              </a:rPr>
              <a:t>He “lets his enthusiasm or his fears run away with him” — and now he lives in your pocket and sends notifications.</a:t>
            </a:r>
            <a:endParaRPr lang="en-US" sz="1350" dirty="0"/>
          </a:p>
        </p:txBody>
      </p:sp>
      <p:sp>
        <p:nvSpPr>
          <p:cNvPr id="7" name="Shape 5"/>
          <p:cNvSpPr/>
          <p:nvPr/>
        </p:nvSpPr>
        <p:spPr>
          <a:xfrm>
            <a:off x="4443984" y="2103120"/>
            <a:ext cx="3300984" cy="2651760"/>
          </a:xfrm>
          <a:prstGeom prst="roundRect">
            <a:avLst>
              <a:gd name="adj" fmla="val 2069"/>
            </a:avLst>
          </a:prstGeom>
          <a:solidFill>
            <a:srgbClr val="FFFFFF"/>
          </a:solidFill>
          <a:ln w="12700">
            <a:solidFill>
              <a:srgbClr val="B7C6D4"/>
            </a:solidFill>
            <a:prstDash val="solid"/>
          </a:ln>
          <a:effectLst>
            <a:outerShdw sx="100000" sy="100000" kx="0" ky="0" algn="bl" rotWithShape="0" blurRad="76200" dist="25400" dir="5400000">
              <a:srgbClr val="182620">
                <a:alpha val="12000"/>
              </a:srgbClr>
            </a:outerShdw>
          </a:effectLst>
        </p:spPr>
      </p:sp>
      <p:sp>
        <p:nvSpPr>
          <p:cNvPr id="8" name="Text 6"/>
          <p:cNvSpPr txBox="1"/>
          <p:nvPr/>
        </p:nvSpPr>
        <p:spPr>
          <a:xfrm>
            <a:off x="4672584" y="2286000"/>
            <a:ext cx="2843784" cy="566928"/>
          </a:xfrm>
          <a:prstGeom prst="rect">
            <a:avLst/>
          </a:prstGeom>
          <a:noFill/>
          <a:ln/>
        </p:spPr>
        <p:txBody>
          <a:bodyPr wrap="square" lIns="0" tIns="0" rIns="0" bIns="0" rtlCol="0" anchor="ctr"/>
          <a:lstStyle/>
          <a:p>
            <a:pPr indent="0" marL="0">
              <a:buNone/>
            </a:pPr>
            <a:r>
              <a:rPr lang="en-US" sz="1700" b="1" dirty="0">
                <a:solidFill>
                  <a:srgbClr val="3E6B54"/>
                </a:solidFill>
                <a:latin typeface="Calibri" pitchFamily="34" charset="0"/>
                <a:ea typeface="Calibri" pitchFamily="34" charset="-122"/>
                <a:cs typeface="Calibri" pitchFamily="34" charset="-120"/>
              </a:rPr>
              <a:t>The habit</a:t>
            </a:r>
            <a:endParaRPr lang="en-US" sz="1700" dirty="0"/>
          </a:p>
        </p:txBody>
      </p:sp>
      <p:sp>
        <p:nvSpPr>
          <p:cNvPr id="9" name="Text 7"/>
          <p:cNvSpPr txBox="1"/>
          <p:nvPr/>
        </p:nvSpPr>
        <p:spPr>
          <a:xfrm>
            <a:off x="4672584" y="2852928"/>
            <a:ext cx="2843784" cy="1691640"/>
          </a:xfrm>
          <a:prstGeom prst="rect">
            <a:avLst/>
          </a:prstGeom>
          <a:noFill/>
          <a:ln/>
        </p:spPr>
        <p:txBody>
          <a:bodyPr wrap="square" lIns="0" tIns="0" rIns="0" bIns="0" rtlCol="0" anchor="ctr"/>
          <a:lstStyle/>
          <a:p>
            <a:pPr indent="0" marL="0">
              <a:lnSpc>
                <a:spcPts val="1728"/>
              </a:lnSpc>
              <a:buNone/>
            </a:pPr>
            <a:r>
              <a:rPr lang="en-US" sz="1350" dirty="0">
                <a:solidFill>
                  <a:srgbClr val="182620"/>
                </a:solidFill>
                <a:latin typeface="Calibri" pitchFamily="34" charset="0"/>
                <a:ea typeface="Calibri" pitchFamily="34" charset="-122"/>
                <a:cs typeface="Calibri" pitchFamily="34" charset="-120"/>
              </a:rPr>
              <a:t>Every sentence about a company should point at a number on the record — a number you can find yourself.</a:t>
            </a:r>
            <a:endParaRPr lang="en-US" sz="1350" dirty="0"/>
          </a:p>
        </p:txBody>
      </p:sp>
      <p:sp>
        <p:nvSpPr>
          <p:cNvPr id="10" name="Shape 8"/>
          <p:cNvSpPr/>
          <p:nvPr/>
        </p:nvSpPr>
        <p:spPr>
          <a:xfrm>
            <a:off x="8065008" y="2103120"/>
            <a:ext cx="3300984" cy="2651760"/>
          </a:xfrm>
          <a:prstGeom prst="roundRect">
            <a:avLst>
              <a:gd name="adj" fmla="val 2069"/>
            </a:avLst>
          </a:prstGeom>
          <a:solidFill>
            <a:srgbClr val="FFFFFF"/>
          </a:solidFill>
          <a:ln w="12700">
            <a:solidFill>
              <a:srgbClr val="B7C6D4"/>
            </a:solidFill>
            <a:prstDash val="solid"/>
          </a:ln>
          <a:effectLst>
            <a:outerShdw sx="100000" sy="100000" kx="0" ky="0" algn="bl" rotWithShape="0" blurRad="76200" dist="25400" dir="5400000">
              <a:srgbClr val="182620">
                <a:alpha val="12000"/>
              </a:srgbClr>
            </a:outerShdw>
          </a:effectLst>
        </p:spPr>
      </p:sp>
      <p:sp>
        <p:nvSpPr>
          <p:cNvPr id="11" name="Text 9"/>
          <p:cNvSpPr txBox="1"/>
          <p:nvPr/>
        </p:nvSpPr>
        <p:spPr>
          <a:xfrm>
            <a:off x="8293608" y="2286000"/>
            <a:ext cx="2843784" cy="566928"/>
          </a:xfrm>
          <a:prstGeom prst="rect">
            <a:avLst/>
          </a:prstGeom>
          <a:noFill/>
          <a:ln/>
        </p:spPr>
        <p:txBody>
          <a:bodyPr wrap="square" lIns="0" tIns="0" rIns="0" bIns="0" rtlCol="0" anchor="ctr"/>
          <a:lstStyle/>
          <a:p>
            <a:pPr indent="0" marL="0">
              <a:buNone/>
            </a:pPr>
            <a:r>
              <a:rPr lang="en-US" sz="1700" b="1" dirty="0">
                <a:solidFill>
                  <a:srgbClr val="3E6B54"/>
                </a:solidFill>
                <a:latin typeface="Calibri" pitchFamily="34" charset="0"/>
                <a:ea typeface="Calibri" pitchFamily="34" charset="-122"/>
                <a:cs typeface="Calibri" pitchFamily="34" charset="-120"/>
              </a:rPr>
              <a:t>Tonight's test</a:t>
            </a:r>
            <a:endParaRPr lang="en-US" sz="1700" dirty="0"/>
          </a:p>
        </p:txBody>
      </p:sp>
      <p:sp>
        <p:nvSpPr>
          <p:cNvPr id="12" name="Text 10"/>
          <p:cNvSpPr txBox="1"/>
          <p:nvPr/>
        </p:nvSpPr>
        <p:spPr>
          <a:xfrm>
            <a:off x="8293608" y="2852928"/>
            <a:ext cx="2843784" cy="1691640"/>
          </a:xfrm>
          <a:prstGeom prst="rect">
            <a:avLst/>
          </a:prstGeom>
          <a:noFill/>
          <a:ln/>
        </p:spPr>
        <p:txBody>
          <a:bodyPr wrap="square" lIns="0" tIns="0" rIns="0" bIns="0" rtlCol="0" anchor="ctr"/>
          <a:lstStyle/>
          <a:p>
            <a:pPr indent="0" marL="0">
              <a:lnSpc>
                <a:spcPts val="1728"/>
              </a:lnSpc>
              <a:buNone/>
            </a:pPr>
            <a:r>
              <a:rPr lang="en-US" sz="1350" dirty="0">
                <a:solidFill>
                  <a:srgbClr val="182620"/>
                </a:solidFill>
                <a:latin typeface="Calibri" pitchFamily="34" charset="0"/>
                <a:ea typeface="Calibri" pitchFamily="34" charset="-122"/>
                <a:cs typeface="Calibri" pitchFamily="34" charset="-120"/>
              </a:rPr>
              <a:t>The toolkit will model that habit. Then we check whether it kept it.</a:t>
            </a:r>
            <a:endParaRPr lang="en-US" sz="1350" dirty="0"/>
          </a:p>
        </p:txBody>
      </p:sp>
      <p:sp>
        <p:nvSpPr>
          <p:cNvPr id="13" name="Text 11"/>
          <p:cNvSpPr txBox="1"/>
          <p:nvPr/>
        </p:nvSpPr>
        <p:spPr>
          <a:xfrm>
            <a:off x="822960" y="5120640"/>
            <a:ext cx="10515600" cy="640080"/>
          </a:xfrm>
          <a:prstGeom prst="rect">
            <a:avLst/>
          </a:prstGeom>
          <a:noFill/>
          <a:ln/>
        </p:spPr>
        <p:txBody>
          <a:bodyPr wrap="square" lIns="0" tIns="0" rIns="0" bIns="0" rtlCol="0" anchor="ctr"/>
          <a:lstStyle/>
          <a:p>
            <a:pPr algn="ctr" indent="0" marL="0">
              <a:buNone/>
            </a:pPr>
            <a:r>
              <a:rPr lang="en-US" sz="2400" b="1" i="1" dirty="0">
                <a:solidFill>
                  <a:srgbClr val="3E6B54"/>
                </a:solidFill>
                <a:latin typeface="Century Schoolbook" pitchFamily="34" charset="0"/>
                <a:ea typeface="Century Schoolbook" pitchFamily="34" charset="-122"/>
                <a:cs typeface="Century Schoolbook" pitchFamily="34" charset="-120"/>
              </a:rPr>
              <a:t>Not cynicism. A habit.</a:t>
            </a:r>
            <a:endParaRPr lang="en-US" sz="2400" dirty="0"/>
          </a:p>
        </p:txBody>
      </p:sp>
      <p:sp>
        <p:nvSpPr>
          <p:cNvPr id="14" name="Text 12"/>
          <p:cNvSpPr txBox="1"/>
          <p:nvPr/>
        </p:nvSpPr>
        <p:spPr>
          <a:xfrm>
            <a:off x="548640" y="6419088"/>
            <a:ext cx="3108960" cy="27432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Education, not advice.</a:t>
            </a:r>
            <a:endParaRPr lang="en-US" sz="900" dirty="0"/>
          </a:p>
        </p:txBody>
      </p:sp>
      <p:sp>
        <p:nvSpPr>
          <p:cNvPr id="15" name="Text 13"/>
          <p:cNvSpPr txBox="1"/>
          <p:nvPr/>
        </p:nvSpPr>
        <p:spPr>
          <a:xfrm>
            <a:off x="4206240" y="6419088"/>
            <a:ext cx="7406640" cy="274320"/>
          </a:xfrm>
          <a:prstGeom prst="rect">
            <a:avLst/>
          </a:prstGeom>
          <a:noFill/>
          <a:ln/>
        </p:spPr>
        <p:txBody>
          <a:bodyPr wrap="square" lIns="0" tIns="0" rIns="0" bIns="0" rtlCol="0" anchor="ctr"/>
          <a:lstStyle/>
          <a:p>
            <a:pPr algn="r" indent="0" marL="0">
              <a:buNone/>
            </a:pPr>
            <a:r>
              <a:rPr lang="en-US" sz="900" i="1" dirty="0">
                <a:solidFill>
                  <a:srgbClr val="6B7A72"/>
                </a:solidFill>
                <a:latin typeface="Calibri" pitchFamily="34" charset="0"/>
                <a:ea typeface="Calibri" pitchFamily="34" charset="-122"/>
                <a:cs typeface="Calibri" pitchFamily="34" charset="-120"/>
              </a:rPr>
              <a:t>The Intelligent Investor ch. 8 — course copy p. 188; Zweig p. 213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2E9"/>
        </a:solidFill>
      </p:bgPr>
    </p:bg>
    <p:spTree>
      <p:nvGrpSpPr>
        <p:cNvPr id="1" name=""/>
        <p:cNvGrpSpPr/>
        <p:nvPr/>
      </p:nvGrpSpPr>
      <p:grpSpPr>
        <a:xfrm>
          <a:off x="0" y="0"/>
          <a:ext cx="0" cy="0"/>
          <a:chOff x="0" y="0"/>
          <a:chExt cx="0" cy="0"/>
        </a:xfrm>
      </p:grpSpPr>
      <p:sp>
        <p:nvSpPr>
          <p:cNvPr id="2" name="Text 0"/>
          <p:cNvSpPr txBox="1"/>
          <p:nvPr/>
        </p:nvSpPr>
        <p:spPr>
          <a:xfrm>
            <a:off x="822960" y="502920"/>
            <a:ext cx="9144000" cy="320040"/>
          </a:xfrm>
          <a:prstGeom prst="rect">
            <a:avLst/>
          </a:prstGeom>
          <a:noFill/>
          <a:ln/>
        </p:spPr>
        <p:txBody>
          <a:bodyPr wrap="square" lIns="0" tIns="0" rIns="0" bIns="0" rtlCol="0" anchor="ctr"/>
          <a:lstStyle/>
          <a:p>
            <a:pPr indent="0" marL="0">
              <a:buNone/>
            </a:pPr>
            <a:r>
              <a:rPr lang="en-US" sz="1200" spc="300" kern="0" dirty="0">
                <a:solidFill>
                  <a:srgbClr val="3E6B54"/>
                </a:solidFill>
                <a:latin typeface="Courier New" pitchFamily="34" charset="0"/>
                <a:ea typeface="Courier New" pitchFamily="34" charset="-122"/>
                <a:cs typeface="Courier New" pitchFamily="34" charset="-120"/>
              </a:rPr>
              <a:t>0:45 — EXPLAIN THIS STOCK</a:t>
            </a:r>
            <a:endParaRPr lang="en-US" sz="1200" dirty="0"/>
          </a:p>
        </p:txBody>
      </p:sp>
      <p:sp>
        <p:nvSpPr>
          <p:cNvPr id="3" name="Text 1"/>
          <p:cNvSpPr txBox="1"/>
          <p:nvPr/>
        </p:nvSpPr>
        <p:spPr>
          <a:xfrm>
            <a:off x="822960" y="868680"/>
            <a:ext cx="10515600" cy="868680"/>
          </a:xfrm>
          <a:prstGeom prst="rect">
            <a:avLst/>
          </a:prstGeom>
          <a:noFill/>
          <a:ln/>
        </p:spPr>
        <p:txBody>
          <a:bodyPr wrap="square" lIns="0" tIns="0" rIns="0" bIns="0" rtlCol="0" anchor="ctr"/>
          <a:lstStyle/>
          <a:p>
            <a:pPr indent="0" marL="0">
              <a:buNone/>
            </a:pPr>
            <a:r>
              <a:rPr lang="en-US" sz="3600" b="1" dirty="0">
                <a:solidFill>
                  <a:srgbClr val="182620"/>
                </a:solidFill>
                <a:latin typeface="Century Schoolbook" pitchFamily="34" charset="0"/>
                <a:ea typeface="Century Schoolbook" pitchFamily="34" charset="-122"/>
                <a:cs typeface="Century Schoolbook" pitchFamily="34" charset="-120"/>
              </a:rPr>
              <a:t>A story with its receipts</a:t>
            </a:r>
            <a:endParaRPr lang="en-US" sz="3600" dirty="0"/>
          </a:p>
        </p:txBody>
      </p:sp>
      <p:sp>
        <p:nvSpPr>
          <p:cNvPr id="4" name="Shape 2"/>
          <p:cNvSpPr/>
          <p:nvPr/>
        </p:nvSpPr>
        <p:spPr>
          <a:xfrm>
            <a:off x="822960" y="1965960"/>
            <a:ext cx="2560320" cy="2834640"/>
          </a:xfrm>
          <a:prstGeom prst="roundRect">
            <a:avLst>
              <a:gd name="adj" fmla="val 2143"/>
            </a:avLst>
          </a:prstGeom>
          <a:solidFill>
            <a:srgbClr val="FFFFFF"/>
          </a:solidFill>
          <a:ln w="12700">
            <a:solidFill>
              <a:srgbClr val="B7C6D4"/>
            </a:solidFill>
            <a:prstDash val="solid"/>
          </a:ln>
        </p:spPr>
      </p:sp>
      <p:sp>
        <p:nvSpPr>
          <p:cNvPr id="5" name="Text 3"/>
          <p:cNvSpPr txBox="1"/>
          <p:nvPr/>
        </p:nvSpPr>
        <p:spPr>
          <a:xfrm>
            <a:off x="1005840" y="2103120"/>
            <a:ext cx="548640" cy="640080"/>
          </a:xfrm>
          <a:prstGeom prst="rect">
            <a:avLst/>
          </a:prstGeom>
          <a:noFill/>
          <a:ln/>
        </p:spPr>
        <p:txBody>
          <a:bodyPr wrap="square" lIns="0" tIns="0" rIns="0" bIns="0" rtlCol="0" anchor="ctr"/>
          <a:lstStyle/>
          <a:p>
            <a:pPr indent="0" marL="0">
              <a:buNone/>
            </a:pPr>
            <a:r>
              <a:rPr lang="en-US" sz="3000" b="1" dirty="0">
                <a:solidFill>
                  <a:srgbClr val="3E6B54"/>
                </a:solidFill>
                <a:latin typeface="Century Schoolbook" pitchFamily="34" charset="0"/>
                <a:ea typeface="Century Schoolbook" pitchFamily="34" charset="-122"/>
                <a:cs typeface="Century Schoolbook" pitchFamily="34" charset="-120"/>
              </a:rPr>
              <a:t>1</a:t>
            </a:r>
            <a:endParaRPr lang="en-US" sz="3000" dirty="0"/>
          </a:p>
        </p:txBody>
      </p:sp>
      <p:sp>
        <p:nvSpPr>
          <p:cNvPr id="6" name="Text 4"/>
          <p:cNvSpPr txBox="1"/>
          <p:nvPr/>
        </p:nvSpPr>
        <p:spPr>
          <a:xfrm>
            <a:off x="1600200" y="2240280"/>
            <a:ext cx="1737360" cy="457200"/>
          </a:xfrm>
          <a:prstGeom prst="rect">
            <a:avLst/>
          </a:prstGeom>
          <a:noFill/>
          <a:ln/>
        </p:spPr>
        <p:txBody>
          <a:bodyPr wrap="square" lIns="0" tIns="0" rIns="0" bIns="0" rtlCol="0" anchor="ctr"/>
          <a:lstStyle/>
          <a:p>
            <a:pPr indent="0" marL="0">
              <a:buNone/>
            </a:pPr>
            <a:r>
              <a:rPr lang="en-US" sz="1600" b="1" dirty="0">
                <a:solidFill>
                  <a:srgbClr val="182620"/>
                </a:solidFill>
                <a:latin typeface="Calibri" pitchFamily="34" charset="0"/>
                <a:ea typeface="Calibri" pitchFamily="34" charset="-122"/>
                <a:cs typeface="Calibri" pitchFamily="34" charset="-120"/>
              </a:rPr>
              <a:t>The fact sheet</a:t>
            </a:r>
            <a:endParaRPr lang="en-US" sz="1600" dirty="0"/>
          </a:p>
        </p:txBody>
      </p:sp>
      <p:sp>
        <p:nvSpPr>
          <p:cNvPr id="7" name="Text 5"/>
          <p:cNvSpPr txBox="1"/>
          <p:nvPr/>
        </p:nvSpPr>
        <p:spPr>
          <a:xfrm>
            <a:off x="1005840" y="2834640"/>
            <a:ext cx="2240280" cy="1828800"/>
          </a:xfrm>
          <a:prstGeom prst="rect">
            <a:avLst/>
          </a:prstGeom>
          <a:noFill/>
          <a:ln/>
        </p:spPr>
        <p:txBody>
          <a:bodyPr wrap="square" lIns="0" tIns="0" rIns="0" bIns="0" rtlCol="0" anchor="ctr"/>
          <a:lstStyle/>
          <a:p>
            <a:pPr indent="0" marL="0">
              <a:lnSpc>
                <a:spcPts val="1700"/>
              </a:lnSpc>
              <a:buNone/>
            </a:pPr>
            <a:r>
              <a:rPr lang="en-US" sz="1250" dirty="0">
                <a:solidFill>
                  <a:srgbClr val="182620"/>
                </a:solidFill>
                <a:latin typeface="Calibri" pitchFamily="34" charset="0"/>
                <a:ea typeface="Calibri" pitchFamily="34" charset="-122"/>
                <a:cs typeface="Calibri" pitchFamily="34" charset="-120"/>
              </a:rPr>
              <a:t>Built from the books and both screens. Numbered: F1, F2… No AI involved.</a:t>
            </a:r>
            <a:endParaRPr lang="en-US" sz="1250" dirty="0"/>
          </a:p>
        </p:txBody>
      </p:sp>
      <p:sp>
        <p:nvSpPr>
          <p:cNvPr id="8" name="Shape 6"/>
          <p:cNvSpPr/>
          <p:nvPr/>
        </p:nvSpPr>
        <p:spPr>
          <a:xfrm>
            <a:off x="3566160" y="1965960"/>
            <a:ext cx="2560320" cy="2834640"/>
          </a:xfrm>
          <a:prstGeom prst="roundRect">
            <a:avLst>
              <a:gd name="adj" fmla="val 2143"/>
            </a:avLst>
          </a:prstGeom>
          <a:solidFill>
            <a:srgbClr val="FFFFFF"/>
          </a:solidFill>
          <a:ln w="12700">
            <a:solidFill>
              <a:srgbClr val="B7C6D4"/>
            </a:solidFill>
            <a:prstDash val="solid"/>
          </a:ln>
        </p:spPr>
      </p:sp>
      <p:sp>
        <p:nvSpPr>
          <p:cNvPr id="9" name="Text 7"/>
          <p:cNvSpPr txBox="1"/>
          <p:nvPr/>
        </p:nvSpPr>
        <p:spPr>
          <a:xfrm>
            <a:off x="3749040" y="2103120"/>
            <a:ext cx="548640" cy="640080"/>
          </a:xfrm>
          <a:prstGeom prst="rect">
            <a:avLst/>
          </a:prstGeom>
          <a:noFill/>
          <a:ln/>
        </p:spPr>
        <p:txBody>
          <a:bodyPr wrap="square" lIns="0" tIns="0" rIns="0" bIns="0" rtlCol="0" anchor="ctr"/>
          <a:lstStyle/>
          <a:p>
            <a:pPr indent="0" marL="0">
              <a:buNone/>
            </a:pPr>
            <a:r>
              <a:rPr lang="en-US" sz="3000" b="1" dirty="0">
                <a:solidFill>
                  <a:srgbClr val="3E6B54"/>
                </a:solidFill>
                <a:latin typeface="Century Schoolbook" pitchFamily="34" charset="0"/>
                <a:ea typeface="Century Schoolbook" pitchFamily="34" charset="-122"/>
                <a:cs typeface="Century Schoolbook" pitchFamily="34" charset="-120"/>
              </a:rPr>
              <a:t>2</a:t>
            </a:r>
            <a:endParaRPr lang="en-US" sz="3000" dirty="0"/>
          </a:p>
        </p:txBody>
      </p:sp>
      <p:sp>
        <p:nvSpPr>
          <p:cNvPr id="10" name="Text 8"/>
          <p:cNvSpPr txBox="1"/>
          <p:nvPr/>
        </p:nvSpPr>
        <p:spPr>
          <a:xfrm>
            <a:off x="4343400" y="2240280"/>
            <a:ext cx="1737360" cy="457200"/>
          </a:xfrm>
          <a:prstGeom prst="rect">
            <a:avLst/>
          </a:prstGeom>
          <a:noFill/>
          <a:ln/>
        </p:spPr>
        <p:txBody>
          <a:bodyPr wrap="square" lIns="0" tIns="0" rIns="0" bIns="0" rtlCol="0" anchor="ctr"/>
          <a:lstStyle/>
          <a:p>
            <a:pPr indent="0" marL="0">
              <a:buNone/>
            </a:pPr>
            <a:r>
              <a:rPr lang="en-US" sz="1600" b="1" dirty="0">
                <a:solidFill>
                  <a:srgbClr val="182620"/>
                </a:solidFill>
                <a:latin typeface="Calibri" pitchFamily="34" charset="0"/>
                <a:ea typeface="Calibri" pitchFamily="34" charset="-122"/>
                <a:cs typeface="Calibri" pitchFamily="34" charset="-120"/>
              </a:rPr>
              <a:t>The story</a:t>
            </a:r>
            <a:endParaRPr lang="en-US" sz="1600" dirty="0"/>
          </a:p>
        </p:txBody>
      </p:sp>
      <p:sp>
        <p:nvSpPr>
          <p:cNvPr id="11" name="Text 9"/>
          <p:cNvSpPr txBox="1"/>
          <p:nvPr/>
        </p:nvSpPr>
        <p:spPr>
          <a:xfrm>
            <a:off x="3749040" y="2834640"/>
            <a:ext cx="2240280" cy="1828800"/>
          </a:xfrm>
          <a:prstGeom prst="rect">
            <a:avLst/>
          </a:prstGeom>
          <a:noFill/>
          <a:ln/>
        </p:spPr>
        <p:txBody>
          <a:bodyPr wrap="square" lIns="0" tIns="0" rIns="0" bIns="0" rtlCol="0" anchor="ctr"/>
          <a:lstStyle/>
          <a:p>
            <a:pPr indent="0" marL="0">
              <a:lnSpc>
                <a:spcPts val="1700"/>
              </a:lnSpc>
              <a:buNone/>
            </a:pPr>
            <a:r>
              <a:rPr lang="en-US" sz="1250" dirty="0">
                <a:solidFill>
                  <a:srgbClr val="182620"/>
                </a:solidFill>
                <a:latin typeface="Calibri" pitchFamily="34" charset="0"/>
                <a:ea typeface="Calibri" pitchFamily="34" charset="-122"/>
                <a:cs typeface="Calibri" pitchFamily="34" charset="-120"/>
              </a:rPr>
              <a:t>An AI is given the sheet and nothing else. Use only these facts; tag every paragraph; never recommend.</a:t>
            </a:r>
            <a:endParaRPr lang="en-US" sz="1250" dirty="0"/>
          </a:p>
        </p:txBody>
      </p:sp>
      <p:sp>
        <p:nvSpPr>
          <p:cNvPr id="12" name="Shape 10"/>
          <p:cNvSpPr/>
          <p:nvPr/>
        </p:nvSpPr>
        <p:spPr>
          <a:xfrm>
            <a:off x="6309360" y="1965960"/>
            <a:ext cx="2560320" cy="2834640"/>
          </a:xfrm>
          <a:prstGeom prst="roundRect">
            <a:avLst>
              <a:gd name="adj" fmla="val 2143"/>
            </a:avLst>
          </a:prstGeom>
          <a:solidFill>
            <a:srgbClr val="FFFFFF"/>
          </a:solidFill>
          <a:ln w="12700">
            <a:solidFill>
              <a:srgbClr val="B7C6D4"/>
            </a:solidFill>
            <a:prstDash val="solid"/>
          </a:ln>
        </p:spPr>
      </p:sp>
      <p:sp>
        <p:nvSpPr>
          <p:cNvPr id="13" name="Text 11"/>
          <p:cNvSpPr txBox="1"/>
          <p:nvPr/>
        </p:nvSpPr>
        <p:spPr>
          <a:xfrm>
            <a:off x="6492240" y="2103120"/>
            <a:ext cx="548640" cy="640080"/>
          </a:xfrm>
          <a:prstGeom prst="rect">
            <a:avLst/>
          </a:prstGeom>
          <a:noFill/>
          <a:ln/>
        </p:spPr>
        <p:txBody>
          <a:bodyPr wrap="square" lIns="0" tIns="0" rIns="0" bIns="0" rtlCol="0" anchor="ctr"/>
          <a:lstStyle/>
          <a:p>
            <a:pPr indent="0" marL="0">
              <a:buNone/>
            </a:pPr>
            <a:r>
              <a:rPr lang="en-US" sz="3000" b="1" dirty="0">
                <a:solidFill>
                  <a:srgbClr val="3E6B54"/>
                </a:solidFill>
                <a:latin typeface="Century Schoolbook" pitchFamily="34" charset="0"/>
                <a:ea typeface="Century Schoolbook" pitchFamily="34" charset="-122"/>
                <a:cs typeface="Century Schoolbook" pitchFamily="34" charset="-120"/>
              </a:rPr>
              <a:t>3</a:t>
            </a:r>
            <a:endParaRPr lang="en-US" sz="3000" dirty="0"/>
          </a:p>
        </p:txBody>
      </p:sp>
      <p:sp>
        <p:nvSpPr>
          <p:cNvPr id="14" name="Text 12"/>
          <p:cNvSpPr txBox="1"/>
          <p:nvPr/>
        </p:nvSpPr>
        <p:spPr>
          <a:xfrm>
            <a:off x="7086600" y="2240280"/>
            <a:ext cx="1737360" cy="457200"/>
          </a:xfrm>
          <a:prstGeom prst="rect">
            <a:avLst/>
          </a:prstGeom>
          <a:noFill/>
          <a:ln/>
        </p:spPr>
        <p:txBody>
          <a:bodyPr wrap="square" lIns="0" tIns="0" rIns="0" bIns="0" rtlCol="0" anchor="ctr"/>
          <a:lstStyle/>
          <a:p>
            <a:pPr indent="0" marL="0">
              <a:buNone/>
            </a:pPr>
            <a:r>
              <a:rPr lang="en-US" sz="1600" b="1" dirty="0">
                <a:solidFill>
                  <a:srgbClr val="182620"/>
                </a:solidFill>
                <a:latin typeface="Calibri" pitchFamily="34" charset="0"/>
                <a:ea typeface="Calibri" pitchFamily="34" charset="-122"/>
                <a:cs typeface="Calibri" pitchFamily="34" charset="-120"/>
              </a:rPr>
              <a:t>The check</a:t>
            </a:r>
            <a:endParaRPr lang="en-US" sz="1600" dirty="0"/>
          </a:p>
        </p:txBody>
      </p:sp>
      <p:sp>
        <p:nvSpPr>
          <p:cNvPr id="15" name="Text 13"/>
          <p:cNvSpPr txBox="1"/>
          <p:nvPr/>
        </p:nvSpPr>
        <p:spPr>
          <a:xfrm>
            <a:off x="6492240" y="2834640"/>
            <a:ext cx="2240280" cy="1828800"/>
          </a:xfrm>
          <a:prstGeom prst="rect">
            <a:avLst/>
          </a:prstGeom>
          <a:noFill/>
          <a:ln/>
        </p:spPr>
        <p:txBody>
          <a:bodyPr wrap="square" lIns="0" tIns="0" rIns="0" bIns="0" rtlCol="0" anchor="ctr"/>
          <a:lstStyle/>
          <a:p>
            <a:pPr indent="0" marL="0">
              <a:lnSpc>
                <a:spcPts val="1700"/>
              </a:lnSpc>
              <a:buNone/>
            </a:pPr>
            <a:r>
              <a:rPr lang="en-US" sz="1250" dirty="0">
                <a:solidFill>
                  <a:srgbClr val="182620"/>
                </a:solidFill>
                <a:latin typeface="Calibri" pitchFamily="34" charset="0"/>
                <a:ea typeface="Calibri" pitchFamily="34" charset="-122"/>
                <a:cs typeface="Calibri" pitchFamily="34" charset="-120"/>
              </a:rPr>
              <a:t>Any number not on the sheet, any fact that doesn't exist, any advice-shaped phrase — flagged on the page.</a:t>
            </a:r>
            <a:endParaRPr lang="en-US" sz="1250" dirty="0"/>
          </a:p>
        </p:txBody>
      </p:sp>
      <p:sp>
        <p:nvSpPr>
          <p:cNvPr id="16" name="Shape 14"/>
          <p:cNvSpPr/>
          <p:nvPr/>
        </p:nvSpPr>
        <p:spPr>
          <a:xfrm>
            <a:off x="9052560" y="1965960"/>
            <a:ext cx="2560320" cy="2834640"/>
          </a:xfrm>
          <a:prstGeom prst="roundRect">
            <a:avLst>
              <a:gd name="adj" fmla="val 2143"/>
            </a:avLst>
          </a:prstGeom>
          <a:solidFill>
            <a:srgbClr val="FFFFFF"/>
          </a:solidFill>
          <a:ln w="12700">
            <a:solidFill>
              <a:srgbClr val="B7C6D4"/>
            </a:solidFill>
            <a:prstDash val="solid"/>
          </a:ln>
        </p:spPr>
      </p:sp>
      <p:sp>
        <p:nvSpPr>
          <p:cNvPr id="17" name="Text 15"/>
          <p:cNvSpPr txBox="1"/>
          <p:nvPr/>
        </p:nvSpPr>
        <p:spPr>
          <a:xfrm>
            <a:off x="9235440" y="2103120"/>
            <a:ext cx="548640" cy="640080"/>
          </a:xfrm>
          <a:prstGeom prst="rect">
            <a:avLst/>
          </a:prstGeom>
          <a:noFill/>
          <a:ln/>
        </p:spPr>
        <p:txBody>
          <a:bodyPr wrap="square" lIns="0" tIns="0" rIns="0" bIns="0" rtlCol="0" anchor="ctr"/>
          <a:lstStyle/>
          <a:p>
            <a:pPr indent="0" marL="0">
              <a:buNone/>
            </a:pPr>
            <a:r>
              <a:rPr lang="en-US" sz="3000" b="1" dirty="0">
                <a:solidFill>
                  <a:srgbClr val="3E6B54"/>
                </a:solidFill>
                <a:latin typeface="Century Schoolbook" pitchFamily="34" charset="0"/>
                <a:ea typeface="Century Schoolbook" pitchFamily="34" charset="-122"/>
                <a:cs typeface="Century Schoolbook" pitchFamily="34" charset="-120"/>
              </a:rPr>
              <a:t>4</a:t>
            </a:r>
            <a:endParaRPr lang="en-US" sz="3000" dirty="0"/>
          </a:p>
        </p:txBody>
      </p:sp>
      <p:sp>
        <p:nvSpPr>
          <p:cNvPr id="18" name="Text 16"/>
          <p:cNvSpPr txBox="1"/>
          <p:nvPr/>
        </p:nvSpPr>
        <p:spPr>
          <a:xfrm>
            <a:off x="9829800" y="2240280"/>
            <a:ext cx="1737360" cy="457200"/>
          </a:xfrm>
          <a:prstGeom prst="rect">
            <a:avLst/>
          </a:prstGeom>
          <a:noFill/>
          <a:ln/>
        </p:spPr>
        <p:txBody>
          <a:bodyPr wrap="square" lIns="0" tIns="0" rIns="0" bIns="0" rtlCol="0" anchor="ctr"/>
          <a:lstStyle/>
          <a:p>
            <a:pPr indent="0" marL="0">
              <a:buNone/>
            </a:pPr>
            <a:r>
              <a:rPr lang="en-US" sz="1600" b="1" dirty="0">
                <a:solidFill>
                  <a:srgbClr val="182620"/>
                </a:solidFill>
                <a:latin typeface="Calibri" pitchFamily="34" charset="0"/>
                <a:ea typeface="Calibri" pitchFamily="34" charset="-122"/>
                <a:cs typeface="Calibri" pitchFamily="34" charset="-120"/>
              </a:rPr>
              <a:t>The plain version</a:t>
            </a:r>
            <a:endParaRPr lang="en-US" sz="1600" dirty="0"/>
          </a:p>
        </p:txBody>
      </p:sp>
      <p:sp>
        <p:nvSpPr>
          <p:cNvPr id="19" name="Text 17"/>
          <p:cNvSpPr txBox="1"/>
          <p:nvPr/>
        </p:nvSpPr>
        <p:spPr>
          <a:xfrm>
            <a:off x="9235440" y="2834640"/>
            <a:ext cx="2240280" cy="1828800"/>
          </a:xfrm>
          <a:prstGeom prst="rect">
            <a:avLst/>
          </a:prstGeom>
          <a:noFill/>
          <a:ln/>
        </p:spPr>
        <p:txBody>
          <a:bodyPr wrap="square" lIns="0" tIns="0" rIns="0" bIns="0" rtlCol="0" anchor="ctr"/>
          <a:lstStyle/>
          <a:p>
            <a:pPr indent="0" marL="0">
              <a:lnSpc>
                <a:spcPts val="1700"/>
              </a:lnSpc>
              <a:buNone/>
            </a:pPr>
            <a:r>
              <a:rPr lang="en-US" sz="1250" dirty="0">
                <a:solidFill>
                  <a:srgbClr val="182620"/>
                </a:solidFill>
                <a:latin typeface="Calibri" pitchFamily="34" charset="0"/>
                <a:ea typeface="Calibri" pitchFamily="34" charset="-122"/>
                <a:cs typeface="Calibri" pitchFamily="34" charset="-120"/>
              </a:rPr>
              <a:t>The course's own sentences from the same sheet. Two tellings, one record.</a:t>
            </a:r>
            <a:endParaRPr lang="en-US" sz="1250" dirty="0"/>
          </a:p>
        </p:txBody>
      </p:sp>
      <p:sp>
        <p:nvSpPr>
          <p:cNvPr id="20" name="Shape 18"/>
          <p:cNvSpPr/>
          <p:nvPr/>
        </p:nvSpPr>
        <p:spPr>
          <a:xfrm>
            <a:off x="822960" y="5029200"/>
            <a:ext cx="10515600" cy="822960"/>
          </a:xfrm>
          <a:prstGeom prst="roundRect">
            <a:avLst>
              <a:gd name="adj" fmla="val 6667"/>
            </a:avLst>
          </a:prstGeom>
          <a:solidFill>
            <a:srgbClr val="223730"/>
          </a:solidFill>
          <a:ln w="19050">
            <a:solidFill>
              <a:srgbClr val="3E6B54"/>
            </a:solidFill>
            <a:prstDash val="solid"/>
          </a:ln>
        </p:spPr>
      </p:sp>
      <p:sp>
        <p:nvSpPr>
          <p:cNvPr id="21" name="Text 19"/>
          <p:cNvSpPr txBox="1"/>
          <p:nvPr/>
        </p:nvSpPr>
        <p:spPr>
          <a:xfrm>
            <a:off x="1097280" y="5193792"/>
            <a:ext cx="10058400" cy="502920"/>
          </a:xfrm>
          <a:prstGeom prst="rect">
            <a:avLst/>
          </a:prstGeom>
          <a:noFill/>
          <a:ln/>
        </p:spPr>
        <p:txBody>
          <a:bodyPr wrap="square" lIns="0" tIns="0" rIns="0" bIns="0" rtlCol="0" anchor="ctr"/>
          <a:lstStyle/>
          <a:p>
            <a:pPr indent="0" marL="0">
              <a:buNone/>
            </a:pPr>
            <a:r>
              <a:rPr lang="en-US" sz="2000" dirty="0">
                <a:solidFill>
                  <a:srgbClr val="EEF2E9"/>
                </a:solidFill>
                <a:latin typeface="Courier New" pitchFamily="34" charset="0"/>
                <a:ea typeface="Courier New" pitchFamily="34" charset="-122"/>
                <a:cs typeface="Courier New" pitchFamily="34" charset="-120"/>
              </a:rPr>
              <a:t>[ course URL ]/explain/NVDA</a:t>
            </a:r>
            <a:endParaRPr lang="en-US" sz="2000" dirty="0"/>
          </a:p>
        </p:txBody>
      </p:sp>
      <p:sp>
        <p:nvSpPr>
          <p:cNvPr id="22" name="Text 20"/>
          <p:cNvSpPr txBox="1"/>
          <p:nvPr/>
        </p:nvSpPr>
        <p:spPr>
          <a:xfrm>
            <a:off x="548640" y="6419088"/>
            <a:ext cx="3108960" cy="27432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Education, not advice.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2E9"/>
        </a:solidFill>
      </p:bgPr>
    </p:bg>
    <p:spTree>
      <p:nvGrpSpPr>
        <p:cNvPr id="1" name=""/>
        <p:cNvGrpSpPr/>
        <p:nvPr/>
      </p:nvGrpSpPr>
      <p:grpSpPr>
        <a:xfrm>
          <a:off x="0" y="0"/>
          <a:ext cx="0" cy="0"/>
          <a:chOff x="0" y="0"/>
          <a:chExt cx="0" cy="0"/>
        </a:xfrm>
      </p:grpSpPr>
      <p:sp>
        <p:nvSpPr>
          <p:cNvPr id="2" name="Text 0"/>
          <p:cNvSpPr txBox="1"/>
          <p:nvPr/>
        </p:nvSpPr>
        <p:spPr>
          <a:xfrm>
            <a:off x="822960" y="502920"/>
            <a:ext cx="9144000" cy="320040"/>
          </a:xfrm>
          <a:prstGeom prst="rect">
            <a:avLst/>
          </a:prstGeom>
          <a:noFill/>
          <a:ln/>
        </p:spPr>
        <p:txBody>
          <a:bodyPr wrap="square" lIns="0" tIns="0" rIns="0" bIns="0" rtlCol="0" anchor="ctr"/>
          <a:lstStyle/>
          <a:p>
            <a:pPr indent="0" marL="0">
              <a:buNone/>
            </a:pPr>
            <a:r>
              <a:rPr lang="en-US" sz="1200" spc="300" kern="0" dirty="0">
                <a:solidFill>
                  <a:srgbClr val="3E6B54"/>
                </a:solidFill>
                <a:latin typeface="Courier New" pitchFamily="34" charset="0"/>
                <a:ea typeface="Courier New" pitchFamily="34" charset="-122"/>
                <a:cs typeface="Courier New" pitchFamily="34" charset="-120"/>
              </a:rPr>
              <a:t>0:55 — PAIRS: AUDIT THE STORY</a:t>
            </a:r>
            <a:endParaRPr lang="en-US" sz="1200" dirty="0"/>
          </a:p>
        </p:txBody>
      </p:sp>
      <p:sp>
        <p:nvSpPr>
          <p:cNvPr id="3" name="Text 1"/>
          <p:cNvSpPr txBox="1"/>
          <p:nvPr/>
        </p:nvSpPr>
        <p:spPr>
          <a:xfrm>
            <a:off x="822960" y="868680"/>
            <a:ext cx="10515600" cy="868680"/>
          </a:xfrm>
          <a:prstGeom prst="rect">
            <a:avLst/>
          </a:prstGeom>
          <a:noFill/>
          <a:ln/>
        </p:spPr>
        <p:txBody>
          <a:bodyPr wrap="square" lIns="0" tIns="0" rIns="0" bIns="0" rtlCol="0" anchor="ctr"/>
          <a:lstStyle/>
          <a:p>
            <a:pPr indent="0" marL="0">
              <a:buNone/>
            </a:pPr>
            <a:r>
              <a:rPr lang="en-US" sz="3600" b="1" dirty="0">
                <a:solidFill>
                  <a:srgbClr val="182620"/>
                </a:solidFill>
                <a:latin typeface="Century Schoolbook" pitchFamily="34" charset="0"/>
                <a:ea typeface="Century Schoolbook" pitchFamily="34" charset="-122"/>
                <a:cs typeface="Century Schoolbook" pitchFamily="34" charset="-120"/>
              </a:rPr>
              <a:t>Trace. Catch. Rewrite.</a:t>
            </a:r>
            <a:endParaRPr lang="en-US" sz="3600" dirty="0"/>
          </a:p>
        </p:txBody>
      </p:sp>
      <p:sp>
        <p:nvSpPr>
          <p:cNvPr id="4" name="Shape 2"/>
          <p:cNvSpPr/>
          <p:nvPr/>
        </p:nvSpPr>
        <p:spPr>
          <a:xfrm>
            <a:off x="822960" y="2057400"/>
            <a:ext cx="3300984" cy="2926080"/>
          </a:xfrm>
          <a:prstGeom prst="roundRect">
            <a:avLst>
              <a:gd name="adj" fmla="val 1875"/>
            </a:avLst>
          </a:prstGeom>
          <a:solidFill>
            <a:srgbClr val="FFFFFF"/>
          </a:solidFill>
          <a:ln w="12700">
            <a:solidFill>
              <a:srgbClr val="B7C6D4"/>
            </a:solidFill>
            <a:prstDash val="solid"/>
          </a:ln>
          <a:effectLst>
            <a:outerShdw sx="100000" sy="100000" kx="0" ky="0" algn="bl" rotWithShape="0" blurRad="76200" dist="25400" dir="5400000">
              <a:srgbClr val="182620">
                <a:alpha val="12000"/>
              </a:srgbClr>
            </a:outerShdw>
          </a:effectLst>
        </p:spPr>
      </p:sp>
      <p:sp>
        <p:nvSpPr>
          <p:cNvPr id="5" name="Text 3"/>
          <p:cNvSpPr txBox="1"/>
          <p:nvPr/>
        </p:nvSpPr>
        <p:spPr>
          <a:xfrm>
            <a:off x="1051560" y="2240280"/>
            <a:ext cx="2843784" cy="566928"/>
          </a:xfrm>
          <a:prstGeom prst="rect">
            <a:avLst/>
          </a:prstGeom>
          <a:noFill/>
          <a:ln/>
        </p:spPr>
        <p:txBody>
          <a:bodyPr wrap="square" lIns="0" tIns="0" rIns="0" bIns="0" rtlCol="0" anchor="ctr"/>
          <a:lstStyle/>
          <a:p>
            <a:pPr indent="0" marL="0">
              <a:buNone/>
            </a:pPr>
            <a:r>
              <a:rPr lang="en-US" sz="1700" b="1" dirty="0">
                <a:solidFill>
                  <a:srgbClr val="3E6B54"/>
                </a:solidFill>
                <a:latin typeface="Calibri" pitchFamily="34" charset="0"/>
                <a:ea typeface="Calibri" pitchFamily="34" charset="-122"/>
                <a:cs typeface="Calibri" pitchFamily="34" charset="-120"/>
              </a:rPr>
              <a:t>1 · Trace</a:t>
            </a:r>
            <a:endParaRPr lang="en-US" sz="1700" dirty="0"/>
          </a:p>
        </p:txBody>
      </p:sp>
      <p:sp>
        <p:nvSpPr>
          <p:cNvPr id="6" name="Text 4"/>
          <p:cNvSpPr txBox="1"/>
          <p:nvPr/>
        </p:nvSpPr>
        <p:spPr>
          <a:xfrm>
            <a:off x="1051560" y="2807208"/>
            <a:ext cx="2843784" cy="1965960"/>
          </a:xfrm>
          <a:prstGeom prst="rect">
            <a:avLst/>
          </a:prstGeom>
          <a:noFill/>
          <a:ln/>
        </p:spPr>
        <p:txBody>
          <a:bodyPr wrap="square" lIns="0" tIns="0" rIns="0" bIns="0" rtlCol="0" anchor="ctr"/>
          <a:lstStyle/>
          <a:p>
            <a:pPr indent="0" marL="0">
              <a:lnSpc>
                <a:spcPts val="1728"/>
              </a:lnSpc>
              <a:buNone/>
            </a:pPr>
            <a:r>
              <a:rPr lang="en-US" sz="1350" dirty="0">
                <a:solidFill>
                  <a:srgbClr val="182620"/>
                </a:solidFill>
                <a:latin typeface="Calibri" pitchFamily="34" charset="0"/>
                <a:ea typeface="Calibri" pitchFamily="34" charset="-122"/>
                <a:cs typeface="Calibri" pitchFamily="34" charset="-120"/>
              </a:rPr>
              <a:t>Each sentence has a fact tag. Read the fact. Does it support the sentence? Mark ✓, ✗ (not supported) or ? (true as far as you know — but not on the sheet).</a:t>
            </a:r>
            <a:endParaRPr lang="en-US" sz="1350" dirty="0"/>
          </a:p>
        </p:txBody>
      </p:sp>
      <p:sp>
        <p:nvSpPr>
          <p:cNvPr id="7" name="Shape 5"/>
          <p:cNvSpPr/>
          <p:nvPr/>
        </p:nvSpPr>
        <p:spPr>
          <a:xfrm>
            <a:off x="4443984" y="2057400"/>
            <a:ext cx="3300984" cy="2926080"/>
          </a:xfrm>
          <a:prstGeom prst="roundRect">
            <a:avLst>
              <a:gd name="adj" fmla="val 1875"/>
            </a:avLst>
          </a:prstGeom>
          <a:solidFill>
            <a:srgbClr val="FFFFFF"/>
          </a:solidFill>
          <a:ln w="12700">
            <a:solidFill>
              <a:srgbClr val="B7C6D4"/>
            </a:solidFill>
            <a:prstDash val="solid"/>
          </a:ln>
          <a:effectLst>
            <a:outerShdw sx="100000" sy="100000" kx="0" ky="0" algn="bl" rotWithShape="0" blurRad="76200" dist="25400" dir="5400000">
              <a:srgbClr val="182620">
                <a:alpha val="12000"/>
              </a:srgbClr>
            </a:outerShdw>
          </a:effectLst>
        </p:spPr>
      </p:sp>
      <p:sp>
        <p:nvSpPr>
          <p:cNvPr id="8" name="Text 6"/>
          <p:cNvSpPr txBox="1"/>
          <p:nvPr/>
        </p:nvSpPr>
        <p:spPr>
          <a:xfrm>
            <a:off x="4672584" y="2240280"/>
            <a:ext cx="2843784" cy="566928"/>
          </a:xfrm>
          <a:prstGeom prst="rect">
            <a:avLst/>
          </a:prstGeom>
          <a:noFill/>
          <a:ln/>
        </p:spPr>
        <p:txBody>
          <a:bodyPr wrap="square" lIns="0" tIns="0" rIns="0" bIns="0" rtlCol="0" anchor="ctr"/>
          <a:lstStyle/>
          <a:p>
            <a:pPr indent="0" marL="0">
              <a:buNone/>
            </a:pPr>
            <a:r>
              <a:rPr lang="en-US" sz="1700" b="1" dirty="0">
                <a:solidFill>
                  <a:srgbClr val="B4382E"/>
                </a:solidFill>
                <a:latin typeface="Calibri" pitchFamily="34" charset="0"/>
                <a:ea typeface="Calibri" pitchFamily="34" charset="-122"/>
                <a:cs typeface="Calibri" pitchFamily="34" charset="-120"/>
              </a:rPr>
              <a:t>2 · Catch</a:t>
            </a:r>
            <a:endParaRPr lang="en-US" sz="1700" dirty="0"/>
          </a:p>
        </p:txBody>
      </p:sp>
      <p:sp>
        <p:nvSpPr>
          <p:cNvPr id="9" name="Text 7"/>
          <p:cNvSpPr txBox="1"/>
          <p:nvPr/>
        </p:nvSpPr>
        <p:spPr>
          <a:xfrm>
            <a:off x="4672584" y="2807208"/>
            <a:ext cx="2843784" cy="1965960"/>
          </a:xfrm>
          <a:prstGeom prst="rect">
            <a:avLst/>
          </a:prstGeom>
          <a:noFill/>
          <a:ln/>
        </p:spPr>
        <p:txBody>
          <a:bodyPr wrap="square" lIns="0" tIns="0" rIns="0" bIns="0" rtlCol="0" anchor="ctr"/>
          <a:lstStyle/>
          <a:p>
            <a:pPr indent="0" marL="0">
              <a:lnSpc>
                <a:spcPts val="1728"/>
              </a:lnSpc>
              <a:buNone/>
            </a:pPr>
            <a:r>
              <a:rPr lang="en-US" sz="1350" dirty="0">
                <a:solidFill>
                  <a:srgbClr val="182620"/>
                </a:solidFill>
                <a:latin typeface="Calibri" pitchFamily="34" charset="0"/>
                <a:ea typeface="Calibri" pitchFamily="34" charset="-122"/>
                <a:cs typeface="Calibri" pitchFamily="34" charset="-120"/>
              </a:rPr>
              <a:t>A number not on the sheet. A claim about WHY something happened. A word that nudges: “cheap”, “safe”, “opportunity”. The machine catches invented numbers and advice words. Wrong words and invented reasons are yours to catch.</a:t>
            </a:r>
            <a:endParaRPr lang="en-US" sz="1350" dirty="0"/>
          </a:p>
        </p:txBody>
      </p:sp>
      <p:sp>
        <p:nvSpPr>
          <p:cNvPr id="10" name="Shape 8"/>
          <p:cNvSpPr/>
          <p:nvPr/>
        </p:nvSpPr>
        <p:spPr>
          <a:xfrm>
            <a:off x="8065008" y="2057400"/>
            <a:ext cx="3300984" cy="2926080"/>
          </a:xfrm>
          <a:prstGeom prst="roundRect">
            <a:avLst>
              <a:gd name="adj" fmla="val 1875"/>
            </a:avLst>
          </a:prstGeom>
          <a:solidFill>
            <a:srgbClr val="FFFFFF"/>
          </a:solidFill>
          <a:ln w="12700">
            <a:solidFill>
              <a:srgbClr val="B7C6D4"/>
            </a:solidFill>
            <a:prstDash val="solid"/>
          </a:ln>
          <a:effectLst>
            <a:outerShdw sx="100000" sy="100000" kx="0" ky="0" algn="bl" rotWithShape="0" blurRad="76200" dist="25400" dir="5400000">
              <a:srgbClr val="182620">
                <a:alpha val="12000"/>
              </a:srgbClr>
            </a:outerShdw>
          </a:effectLst>
        </p:spPr>
      </p:sp>
      <p:sp>
        <p:nvSpPr>
          <p:cNvPr id="11" name="Text 9"/>
          <p:cNvSpPr txBox="1"/>
          <p:nvPr/>
        </p:nvSpPr>
        <p:spPr>
          <a:xfrm>
            <a:off x="8293608" y="2240280"/>
            <a:ext cx="2843784" cy="566928"/>
          </a:xfrm>
          <a:prstGeom prst="rect">
            <a:avLst/>
          </a:prstGeom>
          <a:noFill/>
          <a:ln/>
        </p:spPr>
        <p:txBody>
          <a:bodyPr wrap="square" lIns="0" tIns="0" rIns="0" bIns="0" rtlCol="0" anchor="ctr"/>
          <a:lstStyle/>
          <a:p>
            <a:pPr indent="0" marL="0">
              <a:buNone/>
            </a:pPr>
            <a:r>
              <a:rPr lang="en-US" sz="1700" b="1" dirty="0">
                <a:solidFill>
                  <a:srgbClr val="3E6B54"/>
                </a:solidFill>
                <a:latin typeface="Calibri" pitchFamily="34" charset="0"/>
                <a:ea typeface="Calibri" pitchFamily="34" charset="-122"/>
                <a:cs typeface="Calibri" pitchFamily="34" charset="-120"/>
              </a:rPr>
              <a:t>3 · Rewrite</a:t>
            </a:r>
            <a:endParaRPr lang="en-US" sz="1700" dirty="0"/>
          </a:p>
        </p:txBody>
      </p:sp>
      <p:sp>
        <p:nvSpPr>
          <p:cNvPr id="12" name="Text 10"/>
          <p:cNvSpPr txBox="1"/>
          <p:nvPr/>
        </p:nvSpPr>
        <p:spPr>
          <a:xfrm>
            <a:off x="8293608" y="2807208"/>
            <a:ext cx="2843784" cy="1965960"/>
          </a:xfrm>
          <a:prstGeom prst="rect">
            <a:avLst/>
          </a:prstGeom>
          <a:noFill/>
          <a:ln/>
        </p:spPr>
        <p:txBody>
          <a:bodyPr wrap="square" lIns="0" tIns="0" rIns="0" bIns="0" rtlCol="0" anchor="ctr"/>
          <a:lstStyle/>
          <a:p>
            <a:pPr indent="0" marL="0">
              <a:lnSpc>
                <a:spcPts val="1728"/>
              </a:lnSpc>
              <a:buNone/>
            </a:pPr>
            <a:r>
              <a:rPr lang="en-US" sz="1350" dirty="0">
                <a:solidFill>
                  <a:srgbClr val="182620"/>
                </a:solidFill>
                <a:latin typeface="Calibri" pitchFamily="34" charset="0"/>
                <a:ea typeface="Calibri" pitchFamily="34" charset="-122"/>
                <a:cs typeface="Calibri" pitchFamily="34" charset="-120"/>
              </a:rPr>
              <a:t>One sentence of your own, better than the AI's, with a fact tag.</a:t>
            </a:r>
            <a:endParaRPr lang="en-US" sz="1350" dirty="0"/>
          </a:p>
        </p:txBody>
      </p:sp>
      <p:sp>
        <p:nvSpPr>
          <p:cNvPr id="13" name="Text 11"/>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1700" i="1" dirty="0">
                <a:solidFill>
                  <a:srgbClr val="3E6B54"/>
                </a:solidFill>
                <a:latin typeface="Century Schoolbook" pitchFamily="34" charset="0"/>
                <a:ea typeface="Century Schoolbook" pitchFamily="34" charset="-122"/>
                <a:cs typeface="Century Schoolbook" pitchFamily="34" charset="-120"/>
              </a:rPr>
              <a:t>A clean page is not a reason to stop checking. It's what checking looks like when it passes.</a:t>
            </a:r>
            <a:endParaRPr lang="en-US" sz="1700" dirty="0"/>
          </a:p>
        </p:txBody>
      </p:sp>
      <p:sp>
        <p:nvSpPr>
          <p:cNvPr id="14" name="Text 12"/>
          <p:cNvSpPr txBox="1"/>
          <p:nvPr/>
        </p:nvSpPr>
        <p:spPr>
          <a:xfrm>
            <a:off x="548640" y="6419088"/>
            <a:ext cx="3108960" cy="27432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Education, not advice.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2E9"/>
        </a:solidFill>
      </p:bgPr>
    </p:bg>
    <p:spTree>
      <p:nvGrpSpPr>
        <p:cNvPr id="1" name=""/>
        <p:cNvGrpSpPr/>
        <p:nvPr/>
      </p:nvGrpSpPr>
      <p:grpSpPr>
        <a:xfrm>
          <a:off x="0" y="0"/>
          <a:ext cx="0" cy="0"/>
          <a:chOff x="0" y="0"/>
          <a:chExt cx="0" cy="0"/>
        </a:xfrm>
      </p:grpSpPr>
      <p:sp>
        <p:nvSpPr>
          <p:cNvPr id="2" name="Text 0"/>
          <p:cNvSpPr txBox="1"/>
          <p:nvPr/>
        </p:nvSpPr>
        <p:spPr>
          <a:xfrm>
            <a:off x="822960" y="502920"/>
            <a:ext cx="9144000" cy="320040"/>
          </a:xfrm>
          <a:prstGeom prst="rect">
            <a:avLst/>
          </a:prstGeom>
          <a:noFill/>
          <a:ln/>
        </p:spPr>
        <p:txBody>
          <a:bodyPr wrap="square" lIns="0" tIns="0" rIns="0" bIns="0" rtlCol="0" anchor="ctr"/>
          <a:lstStyle/>
          <a:p>
            <a:pPr indent="0" marL="0">
              <a:buNone/>
            </a:pPr>
            <a:r>
              <a:rPr lang="en-US" sz="1200" spc="300" kern="0" dirty="0">
                <a:solidFill>
                  <a:srgbClr val="3E6B54"/>
                </a:solidFill>
                <a:latin typeface="Courier New" pitchFamily="34" charset="0"/>
                <a:ea typeface="Courier New" pitchFamily="34" charset="-122"/>
                <a:cs typeface="Courier New" pitchFamily="34" charset="-120"/>
              </a:rPr>
              <a:t>1:15 — THE THREE P/Es</a:t>
            </a:r>
            <a:endParaRPr lang="en-US" sz="1200" dirty="0"/>
          </a:p>
        </p:txBody>
      </p:sp>
      <p:sp>
        <p:nvSpPr>
          <p:cNvPr id="3" name="Text 1"/>
          <p:cNvSpPr txBox="1"/>
          <p:nvPr/>
        </p:nvSpPr>
        <p:spPr>
          <a:xfrm>
            <a:off x="822960" y="868680"/>
            <a:ext cx="10515600" cy="868680"/>
          </a:xfrm>
          <a:prstGeom prst="rect">
            <a:avLst/>
          </a:prstGeom>
          <a:noFill/>
          <a:ln/>
        </p:spPr>
        <p:txBody>
          <a:bodyPr wrap="square" lIns="0" tIns="0" rIns="0" bIns="0" rtlCol="0" anchor="ctr"/>
          <a:lstStyle/>
          <a:p>
            <a:pPr indent="0" marL="0">
              <a:buNone/>
            </a:pPr>
            <a:r>
              <a:rPr lang="en-US" sz="3600" b="1" dirty="0">
                <a:solidFill>
                  <a:srgbClr val="182620"/>
                </a:solidFill>
                <a:latin typeface="Century Schoolbook" pitchFamily="34" charset="0"/>
                <a:ea typeface="Century Schoolbook" pitchFamily="34" charset="-122"/>
                <a:cs typeface="Century Schoolbook" pitchFamily="34" charset="-120"/>
              </a:rPr>
              <a:t>Same company. Three right answers.</a:t>
            </a:r>
            <a:endParaRPr lang="en-US" sz="3600" dirty="0"/>
          </a:p>
        </p:txBody>
      </p:sp>
      <p:sp>
        <p:nvSpPr>
          <p:cNvPr id="4" name="Shape 2"/>
          <p:cNvSpPr/>
          <p:nvPr/>
        </p:nvSpPr>
        <p:spPr>
          <a:xfrm>
            <a:off x="822960" y="2057400"/>
            <a:ext cx="3300984" cy="2651760"/>
          </a:xfrm>
          <a:prstGeom prst="roundRect">
            <a:avLst>
              <a:gd name="adj" fmla="val 2069"/>
            </a:avLst>
          </a:prstGeom>
          <a:solidFill>
            <a:srgbClr val="FFFFFF"/>
          </a:solidFill>
          <a:ln w="12700">
            <a:solidFill>
              <a:srgbClr val="B7C6D4"/>
            </a:solidFill>
            <a:prstDash val="solid"/>
          </a:ln>
          <a:effectLst>
            <a:outerShdw sx="100000" sy="100000" kx="0" ky="0" algn="bl" rotWithShape="0" blurRad="76200" dist="25400" dir="5400000">
              <a:srgbClr val="182620">
                <a:alpha val="12000"/>
              </a:srgbClr>
            </a:outerShdw>
          </a:effectLst>
        </p:spPr>
      </p:sp>
      <p:sp>
        <p:nvSpPr>
          <p:cNvPr id="5" name="Text 3"/>
          <p:cNvSpPr txBox="1"/>
          <p:nvPr/>
        </p:nvSpPr>
        <p:spPr>
          <a:xfrm>
            <a:off x="1051560" y="2240280"/>
            <a:ext cx="2843784" cy="566928"/>
          </a:xfrm>
          <a:prstGeom prst="rect">
            <a:avLst/>
          </a:prstGeom>
          <a:noFill/>
          <a:ln/>
        </p:spPr>
        <p:txBody>
          <a:bodyPr wrap="square" lIns="0" tIns="0" rIns="0" bIns="0" rtlCol="0" anchor="ctr"/>
          <a:lstStyle/>
          <a:p>
            <a:pPr indent="0" marL="0">
              <a:buNone/>
            </a:pPr>
            <a:r>
              <a:rPr lang="en-US" sz="1700" b="1" dirty="0">
                <a:solidFill>
                  <a:srgbClr val="3E6B54"/>
                </a:solidFill>
                <a:latin typeface="Calibri" pitchFamily="34" charset="0"/>
                <a:ea typeface="Calibri" pitchFamily="34" charset="-122"/>
                <a:cs typeface="Calibri" pitchFamily="34" charset="-120"/>
              </a:rPr>
              <a:t>Yahoo's “trailing”</a:t>
            </a:r>
            <a:endParaRPr lang="en-US" sz="1700" dirty="0"/>
          </a:p>
        </p:txBody>
      </p:sp>
      <p:sp>
        <p:nvSpPr>
          <p:cNvPr id="6" name="Text 4"/>
          <p:cNvSpPr txBox="1"/>
          <p:nvPr/>
        </p:nvSpPr>
        <p:spPr>
          <a:xfrm>
            <a:off x="1051560" y="2807208"/>
            <a:ext cx="2843784" cy="1691640"/>
          </a:xfrm>
          <a:prstGeom prst="rect">
            <a:avLst/>
          </a:prstGeom>
          <a:noFill/>
          <a:ln/>
        </p:spPr>
        <p:txBody>
          <a:bodyPr wrap="square" lIns="0" tIns="0" rIns="0" bIns="0" rtlCol="0" anchor="ctr"/>
          <a:lstStyle/>
          <a:p>
            <a:pPr indent="0" marL="0">
              <a:lnSpc>
                <a:spcPts val="1728"/>
              </a:lnSpc>
              <a:buNone/>
            </a:pPr>
            <a:r>
              <a:rPr lang="en-US" sz="1350" dirty="0">
                <a:solidFill>
                  <a:srgbClr val="182620"/>
                </a:solidFill>
                <a:latin typeface="Calibri" pitchFamily="34" charset="0"/>
                <a:ea typeface="Calibri" pitchFamily="34" charset="-122"/>
                <a:cs typeface="Calibri" pitchFamily="34" charset="-120"/>
              </a:rPr>
              <a:t>Price over the last four quarters' earnings — whichever earnings Yahoo chose, GAAP or adjusted. You can't see which.</a:t>
            </a:r>
            <a:endParaRPr lang="en-US" sz="1350" dirty="0"/>
          </a:p>
        </p:txBody>
      </p:sp>
      <p:sp>
        <p:nvSpPr>
          <p:cNvPr id="7" name="Shape 5"/>
          <p:cNvSpPr/>
          <p:nvPr/>
        </p:nvSpPr>
        <p:spPr>
          <a:xfrm>
            <a:off x="4443984" y="2057400"/>
            <a:ext cx="3300984" cy="2651760"/>
          </a:xfrm>
          <a:prstGeom prst="roundRect">
            <a:avLst>
              <a:gd name="adj" fmla="val 2069"/>
            </a:avLst>
          </a:prstGeom>
          <a:solidFill>
            <a:srgbClr val="FFFFFF"/>
          </a:solidFill>
          <a:ln w="12700">
            <a:solidFill>
              <a:srgbClr val="B7C6D4"/>
            </a:solidFill>
            <a:prstDash val="solid"/>
          </a:ln>
          <a:effectLst>
            <a:outerShdw sx="100000" sy="100000" kx="0" ky="0" algn="bl" rotWithShape="0" blurRad="76200" dist="25400" dir="5400000">
              <a:srgbClr val="182620">
                <a:alpha val="12000"/>
              </a:srgbClr>
            </a:outerShdw>
          </a:effectLst>
        </p:spPr>
      </p:sp>
      <p:sp>
        <p:nvSpPr>
          <p:cNvPr id="8" name="Text 6"/>
          <p:cNvSpPr txBox="1"/>
          <p:nvPr/>
        </p:nvSpPr>
        <p:spPr>
          <a:xfrm>
            <a:off x="4672584" y="2240280"/>
            <a:ext cx="2843784" cy="566928"/>
          </a:xfrm>
          <a:prstGeom prst="rect">
            <a:avLst/>
          </a:prstGeom>
          <a:noFill/>
          <a:ln/>
        </p:spPr>
        <p:txBody>
          <a:bodyPr wrap="square" lIns="0" tIns="0" rIns="0" bIns="0" rtlCol="0" anchor="ctr"/>
          <a:lstStyle/>
          <a:p>
            <a:pPr indent="0" marL="0">
              <a:buNone/>
            </a:pPr>
            <a:r>
              <a:rPr lang="en-US" sz="1700" b="1" dirty="0">
                <a:solidFill>
                  <a:srgbClr val="3E6B54"/>
                </a:solidFill>
                <a:latin typeface="Calibri" pitchFamily="34" charset="0"/>
                <a:ea typeface="Calibri" pitchFamily="34" charset="-122"/>
                <a:cs typeface="Calibri" pitchFamily="34" charset="-120"/>
              </a:rPr>
              <a:t>Ours: latest year</a:t>
            </a:r>
            <a:endParaRPr lang="en-US" sz="1700" dirty="0"/>
          </a:p>
        </p:txBody>
      </p:sp>
      <p:sp>
        <p:nvSpPr>
          <p:cNvPr id="9" name="Text 7"/>
          <p:cNvSpPr txBox="1"/>
          <p:nvPr/>
        </p:nvSpPr>
        <p:spPr>
          <a:xfrm>
            <a:off x="4672584" y="2807208"/>
            <a:ext cx="2843784" cy="1691640"/>
          </a:xfrm>
          <a:prstGeom prst="rect">
            <a:avLst/>
          </a:prstGeom>
          <a:noFill/>
          <a:ln/>
        </p:spPr>
        <p:txBody>
          <a:bodyPr wrap="square" lIns="0" tIns="0" rIns="0" bIns="0" rtlCol="0" anchor="ctr"/>
          <a:lstStyle/>
          <a:p>
            <a:pPr indent="0" marL="0">
              <a:lnSpc>
                <a:spcPts val="1728"/>
              </a:lnSpc>
              <a:buNone/>
            </a:pPr>
            <a:r>
              <a:rPr lang="en-US" sz="1350" dirty="0">
                <a:solidFill>
                  <a:srgbClr val="182620"/>
                </a:solidFill>
                <a:latin typeface="Calibri" pitchFamily="34" charset="0"/>
                <a:ea typeface="Calibri" pitchFamily="34" charset="-122"/>
                <a:cs typeface="Calibri" pitchFamily="34" charset="-120"/>
              </a:rPr>
              <a:t>Price over the last fiscal year's diluted EPS, from the accounts. Graham's ch. 15 shortcut — “nine or less”.</a:t>
            </a:r>
            <a:endParaRPr lang="en-US" sz="1350" dirty="0"/>
          </a:p>
        </p:txBody>
      </p:sp>
      <p:sp>
        <p:nvSpPr>
          <p:cNvPr id="10" name="Shape 8"/>
          <p:cNvSpPr/>
          <p:nvPr/>
        </p:nvSpPr>
        <p:spPr>
          <a:xfrm>
            <a:off x="8065008" y="2057400"/>
            <a:ext cx="3300984" cy="2651760"/>
          </a:xfrm>
          <a:prstGeom prst="roundRect">
            <a:avLst>
              <a:gd name="adj" fmla="val 2069"/>
            </a:avLst>
          </a:prstGeom>
          <a:solidFill>
            <a:srgbClr val="FFFFFF"/>
          </a:solidFill>
          <a:ln w="12700">
            <a:solidFill>
              <a:srgbClr val="B7C6D4"/>
            </a:solidFill>
            <a:prstDash val="solid"/>
          </a:ln>
          <a:effectLst>
            <a:outerShdw sx="100000" sy="100000" kx="0" ky="0" algn="bl" rotWithShape="0" blurRad="76200" dist="25400" dir="5400000">
              <a:srgbClr val="182620">
                <a:alpha val="12000"/>
              </a:srgbClr>
            </a:outerShdw>
          </a:effectLst>
        </p:spPr>
      </p:sp>
      <p:sp>
        <p:nvSpPr>
          <p:cNvPr id="11" name="Text 9"/>
          <p:cNvSpPr txBox="1"/>
          <p:nvPr/>
        </p:nvSpPr>
        <p:spPr>
          <a:xfrm>
            <a:off x="8293608" y="2240280"/>
            <a:ext cx="2843784" cy="566928"/>
          </a:xfrm>
          <a:prstGeom prst="rect">
            <a:avLst/>
          </a:prstGeom>
          <a:noFill/>
          <a:ln/>
        </p:spPr>
        <p:txBody>
          <a:bodyPr wrap="square" lIns="0" tIns="0" rIns="0" bIns="0" rtlCol="0" anchor="ctr"/>
          <a:lstStyle/>
          <a:p>
            <a:pPr indent="0" marL="0">
              <a:buNone/>
            </a:pPr>
            <a:r>
              <a:rPr lang="en-US" sz="1700" b="1" dirty="0">
                <a:solidFill>
                  <a:srgbClr val="3E6B54"/>
                </a:solidFill>
                <a:latin typeface="Calibri" pitchFamily="34" charset="0"/>
                <a:ea typeface="Calibri" pitchFamily="34" charset="-122"/>
                <a:cs typeface="Calibri" pitchFamily="34" charset="-120"/>
              </a:rPr>
              <a:t>Ours: 3-year average</a:t>
            </a:r>
            <a:endParaRPr lang="en-US" sz="1700" dirty="0"/>
          </a:p>
        </p:txBody>
      </p:sp>
      <p:sp>
        <p:nvSpPr>
          <p:cNvPr id="12" name="Text 10"/>
          <p:cNvSpPr txBox="1"/>
          <p:nvPr/>
        </p:nvSpPr>
        <p:spPr>
          <a:xfrm>
            <a:off x="8293608" y="2807208"/>
            <a:ext cx="2843784" cy="1691640"/>
          </a:xfrm>
          <a:prstGeom prst="rect">
            <a:avLst/>
          </a:prstGeom>
          <a:noFill/>
          <a:ln/>
        </p:spPr>
        <p:txBody>
          <a:bodyPr wrap="square" lIns="0" tIns="0" rIns="0" bIns="0" rtlCol="0" anchor="ctr"/>
          <a:lstStyle/>
          <a:p>
            <a:pPr indent="0" marL="0">
              <a:lnSpc>
                <a:spcPts val="1728"/>
              </a:lnSpc>
              <a:buNone/>
            </a:pPr>
            <a:r>
              <a:rPr lang="en-US" sz="1350" dirty="0">
                <a:solidFill>
                  <a:srgbClr val="182620"/>
                </a:solidFill>
                <a:latin typeface="Calibri" pitchFamily="34" charset="0"/>
                <a:ea typeface="Calibri" pitchFamily="34" charset="-122"/>
                <a:cs typeface="Calibri" pitchFamily="34" charset="-120"/>
              </a:rPr>
              <a:t>Price over the average of three years' EPS. Graham's ch. 14 basis — it smooths a charge year or a windfall.</a:t>
            </a:r>
            <a:endParaRPr lang="en-US" sz="1350" dirty="0"/>
          </a:p>
        </p:txBody>
      </p:sp>
      <p:sp>
        <p:nvSpPr>
          <p:cNvPr id="13" name="Text 11"/>
          <p:cNvSpPr txBox="1"/>
          <p:nvPr/>
        </p:nvSpPr>
        <p:spPr>
          <a:xfrm>
            <a:off x="822960" y="4937760"/>
            <a:ext cx="10515600" cy="914400"/>
          </a:xfrm>
          <a:prstGeom prst="rect">
            <a:avLst/>
          </a:prstGeom>
          <a:noFill/>
          <a:ln/>
        </p:spPr>
        <p:txBody>
          <a:bodyPr wrap="square" lIns="0" tIns="0" rIns="0" bIns="0" rtlCol="0" anchor="ctr"/>
          <a:lstStyle/>
          <a:p>
            <a:pPr indent="0" marL="0">
              <a:lnSpc>
                <a:spcPts val="2200"/>
              </a:lnSpc>
              <a:buNone/>
            </a:pPr>
            <a:r>
              <a:rPr lang="en-US" sz="1600" i="1" dirty="0">
                <a:solidFill>
                  <a:srgbClr val="3E6B54"/>
                </a:solidFill>
                <a:latin typeface="Century Schoolbook" pitchFamily="34" charset="0"/>
                <a:ea typeface="Century Schoolbook" pitchFamily="34" charset="-122"/>
                <a:cs typeface="Century Schoolbook" pitchFamily="34" charset="-120"/>
              </a:rPr>
              <a:t>GM, 16 Oct 2026: 14.8× on the average — passes the defensive test. 25.6× on the latest (charge) year — fails the enterprising cut. Both are correct. Which did Graham ask for, and where?</a:t>
            </a:r>
            <a:endParaRPr lang="en-US" sz="1600" dirty="0"/>
          </a:p>
        </p:txBody>
      </p:sp>
      <p:sp>
        <p:nvSpPr>
          <p:cNvPr id="14" name="Text 12"/>
          <p:cNvSpPr txBox="1"/>
          <p:nvPr/>
        </p:nvSpPr>
        <p:spPr>
          <a:xfrm>
            <a:off x="548640" y="6419088"/>
            <a:ext cx="3108960" cy="27432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Education, not advice.</a:t>
            </a:r>
            <a:endParaRPr lang="en-US" sz="900" dirty="0"/>
          </a:p>
        </p:txBody>
      </p:sp>
      <p:sp>
        <p:nvSpPr>
          <p:cNvPr id="15" name="Text 13"/>
          <p:cNvSpPr txBox="1"/>
          <p:nvPr/>
        </p:nvSpPr>
        <p:spPr>
          <a:xfrm>
            <a:off x="4206240" y="6419088"/>
            <a:ext cx="7406640" cy="274320"/>
          </a:xfrm>
          <a:prstGeom prst="rect">
            <a:avLst/>
          </a:prstGeom>
          <a:noFill/>
          <a:ln/>
        </p:spPr>
        <p:txBody>
          <a:bodyPr wrap="square" lIns="0" tIns="0" rIns="0" bIns="0" rtlCol="0" anchor="ctr"/>
          <a:lstStyle/>
          <a:p>
            <a:pPr algn="r" indent="0" marL="0">
              <a:buNone/>
            </a:pPr>
            <a:r>
              <a:rPr lang="en-US" sz="900" i="1" dirty="0">
                <a:solidFill>
                  <a:srgbClr val="6B7A72"/>
                </a:solidFill>
                <a:latin typeface="Calibri" pitchFamily="34" charset="0"/>
                <a:ea typeface="Calibri" pitchFamily="34" charset="-122"/>
                <a:cs typeface="Calibri" pitchFamily="34" charset="-120"/>
              </a:rPr>
              <a:t>The Intelligent Investor p. 349 (ch. 14), p. 385 (ch.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2E9"/>
        </a:solidFill>
      </p:bgPr>
    </p:bg>
    <p:spTree>
      <p:nvGrpSpPr>
        <p:cNvPr id="1" name=""/>
        <p:cNvGrpSpPr/>
        <p:nvPr/>
      </p:nvGrpSpPr>
      <p:grpSpPr>
        <a:xfrm>
          <a:off x="0" y="0"/>
          <a:ext cx="0" cy="0"/>
          <a:chOff x="0" y="0"/>
          <a:chExt cx="0" cy="0"/>
        </a:xfrm>
      </p:grpSpPr>
      <p:sp>
        <p:nvSpPr>
          <p:cNvPr id="2" name="Text 0"/>
          <p:cNvSpPr txBox="1"/>
          <p:nvPr/>
        </p:nvSpPr>
        <p:spPr>
          <a:xfrm>
            <a:off x="822960" y="502920"/>
            <a:ext cx="9144000" cy="320040"/>
          </a:xfrm>
          <a:prstGeom prst="rect">
            <a:avLst/>
          </a:prstGeom>
          <a:noFill/>
          <a:ln/>
        </p:spPr>
        <p:txBody>
          <a:bodyPr wrap="square" lIns="0" tIns="0" rIns="0" bIns="0" rtlCol="0" anchor="ctr"/>
          <a:lstStyle/>
          <a:p>
            <a:pPr indent="0" marL="0">
              <a:buNone/>
            </a:pPr>
            <a:r>
              <a:rPr lang="en-US" sz="1200" spc="300" kern="0" dirty="0">
                <a:solidFill>
                  <a:srgbClr val="3E6B54"/>
                </a:solidFill>
                <a:latin typeface="Courier New" pitchFamily="34" charset="0"/>
                <a:ea typeface="Courier New" pitchFamily="34" charset="-122"/>
                <a:cs typeface="Courier New" pitchFamily="34" charset="-120"/>
              </a:rPr>
              <a:t>THE QUESTION FROM WEEK 5</a:t>
            </a:r>
            <a:endParaRPr lang="en-US" sz="1200" dirty="0"/>
          </a:p>
        </p:txBody>
      </p:sp>
      <p:sp>
        <p:nvSpPr>
          <p:cNvPr id="3" name="Text 1"/>
          <p:cNvSpPr txBox="1"/>
          <p:nvPr/>
        </p:nvSpPr>
        <p:spPr>
          <a:xfrm>
            <a:off x="822960" y="868680"/>
            <a:ext cx="10515600" cy="868680"/>
          </a:xfrm>
          <a:prstGeom prst="rect">
            <a:avLst/>
          </a:prstGeom>
          <a:noFill/>
          <a:ln/>
        </p:spPr>
        <p:txBody>
          <a:bodyPr wrap="square" lIns="0" tIns="0" rIns="0" bIns="0" rtlCol="0" anchor="ctr"/>
          <a:lstStyle/>
          <a:p>
            <a:pPr indent="0" marL="0">
              <a:buNone/>
            </a:pPr>
            <a:r>
              <a:rPr lang="en-US" sz="3600" b="1" dirty="0">
                <a:solidFill>
                  <a:srgbClr val="182620"/>
                </a:solidFill>
                <a:latin typeface="Century Schoolbook" pitchFamily="34" charset="0"/>
                <a:ea typeface="Century Schoolbook" pitchFamily="34" charset="-122"/>
                <a:cs typeface="Century Schoolbook" pitchFamily="34" charset="-120"/>
              </a:rPr>
              <a:t>“Why not just use Yahoo — or pay?”</a:t>
            </a:r>
            <a:endParaRPr lang="en-US" sz="3600" dirty="0"/>
          </a:p>
        </p:txBody>
      </p:sp>
      <p:sp>
        <p:nvSpPr>
          <p:cNvPr id="4" name="Shape 2"/>
          <p:cNvSpPr/>
          <p:nvPr/>
        </p:nvSpPr>
        <p:spPr>
          <a:xfrm>
            <a:off x="822960" y="2057400"/>
            <a:ext cx="3300984" cy="3017520"/>
          </a:xfrm>
          <a:prstGeom prst="roundRect">
            <a:avLst>
              <a:gd name="adj" fmla="val 1818"/>
            </a:avLst>
          </a:prstGeom>
          <a:solidFill>
            <a:srgbClr val="FFFFFF"/>
          </a:solidFill>
          <a:ln w="12700">
            <a:solidFill>
              <a:srgbClr val="B7C6D4"/>
            </a:solidFill>
            <a:prstDash val="solid"/>
          </a:ln>
          <a:effectLst>
            <a:outerShdw sx="100000" sy="100000" kx="0" ky="0" algn="bl" rotWithShape="0" blurRad="76200" dist="25400" dir="5400000">
              <a:srgbClr val="182620">
                <a:alpha val="12000"/>
              </a:srgbClr>
            </a:outerShdw>
          </a:effectLst>
        </p:spPr>
      </p:sp>
      <p:sp>
        <p:nvSpPr>
          <p:cNvPr id="5" name="Text 3"/>
          <p:cNvSpPr txBox="1"/>
          <p:nvPr/>
        </p:nvSpPr>
        <p:spPr>
          <a:xfrm>
            <a:off x="1051560" y="2240280"/>
            <a:ext cx="2843784" cy="566928"/>
          </a:xfrm>
          <a:prstGeom prst="rect">
            <a:avLst/>
          </a:prstGeom>
          <a:noFill/>
          <a:ln/>
        </p:spPr>
        <p:txBody>
          <a:bodyPr wrap="square" lIns="0" tIns="0" rIns="0" bIns="0" rtlCol="0" anchor="ctr"/>
          <a:lstStyle/>
          <a:p>
            <a:pPr indent="0" marL="0">
              <a:buNone/>
            </a:pPr>
            <a:r>
              <a:rPr lang="en-US" sz="1700" b="1" dirty="0">
                <a:solidFill>
                  <a:srgbClr val="3E6B54"/>
                </a:solidFill>
                <a:latin typeface="Calibri" pitchFamily="34" charset="0"/>
                <a:ea typeface="Calibri" pitchFamily="34" charset="-122"/>
                <a:cs typeface="Calibri" pitchFamily="34" charset="-120"/>
              </a:rPr>
              <a:t>Paying buys breadth, not survivors</a:t>
            </a:r>
            <a:endParaRPr lang="en-US" sz="1700" dirty="0"/>
          </a:p>
        </p:txBody>
      </p:sp>
      <p:sp>
        <p:nvSpPr>
          <p:cNvPr id="6" name="Text 4"/>
          <p:cNvSpPr txBox="1"/>
          <p:nvPr/>
        </p:nvSpPr>
        <p:spPr>
          <a:xfrm>
            <a:off x="1051560" y="2807208"/>
            <a:ext cx="2843784" cy="2057400"/>
          </a:xfrm>
          <a:prstGeom prst="rect">
            <a:avLst/>
          </a:prstGeom>
          <a:noFill/>
          <a:ln/>
        </p:spPr>
        <p:txBody>
          <a:bodyPr wrap="square" lIns="0" tIns="0" rIns="0" bIns="0" rtlCol="0" anchor="ctr"/>
          <a:lstStyle/>
          <a:p>
            <a:pPr indent="0" marL="0">
              <a:lnSpc>
                <a:spcPts val="1728"/>
              </a:lnSpc>
              <a:buNone/>
            </a:pPr>
            <a:r>
              <a:rPr lang="en-US" sz="1350" dirty="0">
                <a:solidFill>
                  <a:srgbClr val="182620"/>
                </a:solidFill>
                <a:latin typeface="Calibri" pitchFamily="34" charset="0"/>
                <a:ea typeface="Calibri" pitchFamily="34" charset="-122"/>
                <a:cs typeface="Calibri" pitchFamily="34" charset="-120"/>
              </a:rPr>
              <a:t>A paid feed returns the same accounts for the same companies — and the same zero. Nothing in a subscription makes a famous company cheaper. More companies, yes; we're getting those free.</a:t>
            </a:r>
            <a:endParaRPr lang="en-US" sz="1350" dirty="0"/>
          </a:p>
        </p:txBody>
      </p:sp>
      <p:sp>
        <p:nvSpPr>
          <p:cNvPr id="7" name="Shape 5"/>
          <p:cNvSpPr/>
          <p:nvPr/>
        </p:nvSpPr>
        <p:spPr>
          <a:xfrm>
            <a:off x="4443984" y="2057400"/>
            <a:ext cx="3300984" cy="3017520"/>
          </a:xfrm>
          <a:prstGeom prst="roundRect">
            <a:avLst>
              <a:gd name="adj" fmla="val 1818"/>
            </a:avLst>
          </a:prstGeom>
          <a:solidFill>
            <a:srgbClr val="FFFFFF"/>
          </a:solidFill>
          <a:ln w="12700">
            <a:solidFill>
              <a:srgbClr val="B7C6D4"/>
            </a:solidFill>
            <a:prstDash val="solid"/>
          </a:ln>
          <a:effectLst>
            <a:outerShdw sx="100000" sy="100000" kx="0" ky="0" algn="bl" rotWithShape="0" blurRad="76200" dist="25400" dir="5400000">
              <a:srgbClr val="182620">
                <a:alpha val="12000"/>
              </a:srgbClr>
            </a:outerShdw>
          </a:effectLst>
        </p:spPr>
      </p:sp>
      <p:sp>
        <p:nvSpPr>
          <p:cNvPr id="8" name="Text 6"/>
          <p:cNvSpPr txBox="1"/>
          <p:nvPr/>
        </p:nvSpPr>
        <p:spPr>
          <a:xfrm>
            <a:off x="4672584" y="2240280"/>
            <a:ext cx="2843784" cy="566928"/>
          </a:xfrm>
          <a:prstGeom prst="rect">
            <a:avLst/>
          </a:prstGeom>
          <a:noFill/>
          <a:ln/>
        </p:spPr>
        <p:txBody>
          <a:bodyPr wrap="square" lIns="0" tIns="0" rIns="0" bIns="0" rtlCol="0" anchor="ctr"/>
          <a:lstStyle/>
          <a:p>
            <a:pPr indent="0" marL="0">
              <a:buNone/>
            </a:pPr>
            <a:r>
              <a:rPr lang="en-US" sz="1700" b="1" dirty="0">
                <a:solidFill>
                  <a:srgbClr val="3E6B54"/>
                </a:solidFill>
                <a:latin typeface="Calibri" pitchFamily="34" charset="0"/>
                <a:ea typeface="Calibri" pitchFamily="34" charset="-122"/>
                <a:cs typeface="Calibri" pitchFamily="34" charset="-120"/>
              </a:rPr>
              <a:t>You can't see the arithmetic</a:t>
            </a:r>
            <a:endParaRPr lang="en-US" sz="1700" dirty="0"/>
          </a:p>
        </p:txBody>
      </p:sp>
      <p:sp>
        <p:nvSpPr>
          <p:cNvPr id="9" name="Text 7"/>
          <p:cNvSpPr txBox="1"/>
          <p:nvPr/>
        </p:nvSpPr>
        <p:spPr>
          <a:xfrm>
            <a:off x="4672584" y="2807208"/>
            <a:ext cx="2843784" cy="2057400"/>
          </a:xfrm>
          <a:prstGeom prst="rect">
            <a:avLst/>
          </a:prstGeom>
          <a:noFill/>
          <a:ln/>
        </p:spPr>
        <p:txBody>
          <a:bodyPr wrap="square" lIns="0" tIns="0" rIns="0" bIns="0" rtlCol="0" anchor="ctr"/>
          <a:lstStyle/>
          <a:p>
            <a:pPr indent="0" marL="0">
              <a:lnSpc>
                <a:spcPts val="1728"/>
              </a:lnSpc>
              <a:buNone/>
            </a:pPr>
            <a:r>
              <a:rPr lang="en-US" sz="1350" dirty="0">
                <a:solidFill>
                  <a:srgbClr val="182620"/>
                </a:solidFill>
                <a:latin typeface="Calibri" pitchFamily="34" charset="0"/>
                <a:ea typeface="Calibri" pitchFamily="34" charset="-122"/>
                <a:cs typeface="Calibri" pitchFamily="34" charset="-120"/>
              </a:rPr>
              <a:t>A site's P/E is one number. GAAP or adjusted? Trailing or fiscal? Here every ✓ and ✗ traces to a line in the accounts — because the card, the screen and the code share one rules table.</a:t>
            </a:r>
            <a:endParaRPr lang="en-US" sz="1350" dirty="0"/>
          </a:p>
        </p:txBody>
      </p:sp>
      <p:sp>
        <p:nvSpPr>
          <p:cNvPr id="10" name="Shape 8"/>
          <p:cNvSpPr/>
          <p:nvPr/>
        </p:nvSpPr>
        <p:spPr>
          <a:xfrm>
            <a:off x="8065008" y="2057400"/>
            <a:ext cx="3300984" cy="3017520"/>
          </a:xfrm>
          <a:prstGeom prst="roundRect">
            <a:avLst>
              <a:gd name="adj" fmla="val 1818"/>
            </a:avLst>
          </a:prstGeom>
          <a:solidFill>
            <a:srgbClr val="FFFFFF"/>
          </a:solidFill>
          <a:ln w="12700">
            <a:solidFill>
              <a:srgbClr val="B7C6D4"/>
            </a:solidFill>
            <a:prstDash val="solid"/>
          </a:ln>
          <a:effectLst>
            <a:outerShdw sx="100000" sy="100000" kx="0" ky="0" algn="bl" rotWithShape="0" blurRad="76200" dist="25400" dir="5400000">
              <a:srgbClr val="182620">
                <a:alpha val="12000"/>
              </a:srgbClr>
            </a:outerShdw>
          </a:effectLst>
        </p:spPr>
      </p:sp>
      <p:sp>
        <p:nvSpPr>
          <p:cNvPr id="11" name="Text 9"/>
          <p:cNvSpPr txBox="1"/>
          <p:nvPr/>
        </p:nvSpPr>
        <p:spPr>
          <a:xfrm>
            <a:off x="8293608" y="2240280"/>
            <a:ext cx="2843784" cy="566928"/>
          </a:xfrm>
          <a:prstGeom prst="rect">
            <a:avLst/>
          </a:prstGeom>
          <a:noFill/>
          <a:ln/>
        </p:spPr>
        <p:txBody>
          <a:bodyPr wrap="square" lIns="0" tIns="0" rIns="0" bIns="0" rtlCol="0" anchor="ctr"/>
          <a:lstStyle/>
          <a:p>
            <a:pPr indent="0" marL="0">
              <a:buNone/>
            </a:pPr>
            <a:r>
              <a:rPr lang="en-US" sz="1700" b="1" dirty="0">
                <a:solidFill>
                  <a:srgbClr val="B4382E"/>
                </a:solidFill>
                <a:latin typeface="Calibri" pitchFamily="34" charset="0"/>
                <a:ea typeface="Calibri" pitchFamily="34" charset="-122"/>
                <a:cs typeface="Calibri" pitchFamily="34" charset="-120"/>
              </a:rPr>
              <a:t>A tool that always has a list…</a:t>
            </a:r>
            <a:endParaRPr lang="en-US" sz="1700" dirty="0"/>
          </a:p>
        </p:txBody>
      </p:sp>
      <p:sp>
        <p:nvSpPr>
          <p:cNvPr id="12" name="Text 10"/>
          <p:cNvSpPr txBox="1"/>
          <p:nvPr/>
        </p:nvSpPr>
        <p:spPr>
          <a:xfrm>
            <a:off x="8293608" y="2807208"/>
            <a:ext cx="2843784" cy="2057400"/>
          </a:xfrm>
          <a:prstGeom prst="rect">
            <a:avLst/>
          </a:prstGeom>
          <a:noFill/>
          <a:ln/>
        </p:spPr>
        <p:txBody>
          <a:bodyPr wrap="square" lIns="0" tIns="0" rIns="0" bIns="0" rtlCol="0" anchor="ctr"/>
          <a:lstStyle/>
          <a:p>
            <a:pPr indent="0" marL="0">
              <a:lnSpc>
                <a:spcPts val="1728"/>
              </a:lnSpc>
              <a:buNone/>
            </a:pPr>
            <a:r>
              <a:rPr lang="en-US" sz="1350" dirty="0">
                <a:solidFill>
                  <a:srgbClr val="182620"/>
                </a:solidFill>
                <a:latin typeface="Calibri" pitchFamily="34" charset="0"/>
                <a:ea typeface="Calibri" pitchFamily="34" charset="-122"/>
                <a:cs typeface="Calibri" pitchFamily="34" charset="-120"/>
              </a:rPr>
              <a:t>…is selling the list. A free tool that says “nothing today” is telling you about the market, not about itself.</a:t>
            </a:r>
            <a:endParaRPr lang="en-US" sz="1350" dirty="0"/>
          </a:p>
        </p:txBody>
      </p:sp>
      <p:sp>
        <p:nvSpPr>
          <p:cNvPr id="13" name="Text 11"/>
          <p:cNvSpPr txBox="1"/>
          <p:nvPr/>
        </p:nvSpPr>
        <p:spPr>
          <a:xfrm>
            <a:off x="548640" y="6419088"/>
            <a:ext cx="3108960" cy="27432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Education, not advice.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2E9"/>
        </a:solidFill>
      </p:bgPr>
    </p:bg>
    <p:spTree>
      <p:nvGrpSpPr>
        <p:cNvPr id="1" name=""/>
        <p:cNvGrpSpPr/>
        <p:nvPr/>
      </p:nvGrpSpPr>
      <p:grpSpPr>
        <a:xfrm>
          <a:off x="0" y="0"/>
          <a:ext cx="0" cy="0"/>
          <a:chOff x="0" y="0"/>
          <a:chExt cx="0" cy="0"/>
        </a:xfrm>
      </p:grpSpPr>
      <p:sp>
        <p:nvSpPr>
          <p:cNvPr id="2" name="Text 0"/>
          <p:cNvSpPr txBox="1"/>
          <p:nvPr/>
        </p:nvSpPr>
        <p:spPr>
          <a:xfrm>
            <a:off x="822960" y="502920"/>
            <a:ext cx="9144000" cy="320040"/>
          </a:xfrm>
          <a:prstGeom prst="rect">
            <a:avLst/>
          </a:prstGeom>
          <a:noFill/>
          <a:ln/>
        </p:spPr>
        <p:txBody>
          <a:bodyPr wrap="square" lIns="0" tIns="0" rIns="0" bIns="0" rtlCol="0" anchor="ctr"/>
          <a:lstStyle/>
          <a:p>
            <a:pPr indent="0" marL="0">
              <a:buNone/>
            </a:pPr>
            <a:r>
              <a:rPr lang="en-US" sz="1200" spc="300" kern="0" dirty="0">
                <a:solidFill>
                  <a:srgbClr val="3E6B54"/>
                </a:solidFill>
                <a:latin typeface="Courier New" pitchFamily="34" charset="0"/>
                <a:ea typeface="Courier New" pitchFamily="34" charset="-122"/>
                <a:cs typeface="Courier New" pitchFamily="34" charset="-120"/>
              </a:rPr>
              <a:t>1:25 — HOMEWORK</a:t>
            </a:r>
            <a:endParaRPr lang="en-US" sz="1200" dirty="0"/>
          </a:p>
        </p:txBody>
      </p:sp>
      <p:sp>
        <p:nvSpPr>
          <p:cNvPr id="3" name="Text 1"/>
          <p:cNvSpPr txBox="1"/>
          <p:nvPr/>
        </p:nvSpPr>
        <p:spPr>
          <a:xfrm>
            <a:off x="822960" y="868680"/>
            <a:ext cx="10515600" cy="868680"/>
          </a:xfrm>
          <a:prstGeom prst="rect">
            <a:avLst/>
          </a:prstGeom>
          <a:noFill/>
          <a:ln/>
        </p:spPr>
        <p:txBody>
          <a:bodyPr wrap="square" lIns="0" tIns="0" rIns="0" bIns="0" rtlCol="0" anchor="ctr"/>
          <a:lstStyle/>
          <a:p>
            <a:pPr indent="0" marL="0">
              <a:buNone/>
            </a:pPr>
            <a:r>
              <a:rPr lang="en-US" sz="3600" b="1" dirty="0">
                <a:solidFill>
                  <a:srgbClr val="182620"/>
                </a:solidFill>
                <a:latin typeface="Century Schoolbook" pitchFamily="34" charset="0"/>
                <a:ea typeface="Century Schoolbook" pitchFamily="34" charset="-122"/>
                <a:cs typeface="Century Schoolbook" pitchFamily="34" charset="-120"/>
              </a:rPr>
              <a:t>Write it yourself</a:t>
            </a:r>
            <a:endParaRPr lang="en-US" sz="3600" dirty="0"/>
          </a:p>
        </p:txBody>
      </p:sp>
      <p:sp>
        <p:nvSpPr>
          <p:cNvPr id="4" name="Shape 2"/>
          <p:cNvSpPr/>
          <p:nvPr/>
        </p:nvSpPr>
        <p:spPr>
          <a:xfrm>
            <a:off x="822960" y="2103120"/>
            <a:ext cx="3300984" cy="2560320"/>
          </a:xfrm>
          <a:prstGeom prst="roundRect">
            <a:avLst>
              <a:gd name="adj" fmla="val 2143"/>
            </a:avLst>
          </a:prstGeom>
          <a:solidFill>
            <a:srgbClr val="FFFFFF"/>
          </a:solidFill>
          <a:ln w="12700">
            <a:solidFill>
              <a:srgbClr val="B7C6D4"/>
            </a:solidFill>
            <a:prstDash val="solid"/>
          </a:ln>
          <a:effectLst>
            <a:outerShdw sx="100000" sy="100000" kx="0" ky="0" algn="bl" rotWithShape="0" blurRad="76200" dist="25400" dir="5400000">
              <a:srgbClr val="182620">
                <a:alpha val="12000"/>
              </a:srgbClr>
            </a:outerShdw>
          </a:effectLst>
        </p:spPr>
      </p:sp>
      <p:sp>
        <p:nvSpPr>
          <p:cNvPr id="5" name="Text 3"/>
          <p:cNvSpPr txBox="1"/>
          <p:nvPr/>
        </p:nvSpPr>
        <p:spPr>
          <a:xfrm>
            <a:off x="1051560" y="2286000"/>
            <a:ext cx="2843784" cy="566928"/>
          </a:xfrm>
          <a:prstGeom prst="rect">
            <a:avLst/>
          </a:prstGeom>
          <a:noFill/>
          <a:ln/>
        </p:spPr>
        <p:txBody>
          <a:bodyPr wrap="square" lIns="0" tIns="0" rIns="0" bIns="0" rtlCol="0" anchor="ctr"/>
          <a:lstStyle/>
          <a:p>
            <a:pPr indent="0" marL="0">
              <a:buNone/>
            </a:pPr>
            <a:r>
              <a:rPr lang="en-US" sz="1700" b="1" dirty="0">
                <a:solidFill>
                  <a:srgbClr val="3E6B54"/>
                </a:solidFill>
                <a:latin typeface="Calibri" pitchFamily="34" charset="0"/>
                <a:ea typeface="Calibri" pitchFamily="34" charset="-122"/>
                <a:cs typeface="Calibri" pitchFamily="34" charset="-120"/>
              </a:rPr>
              <a:t>1 · Your own explanation</a:t>
            </a:r>
            <a:endParaRPr lang="en-US" sz="1700" dirty="0"/>
          </a:p>
        </p:txBody>
      </p:sp>
      <p:sp>
        <p:nvSpPr>
          <p:cNvPr id="6" name="Text 4"/>
          <p:cNvSpPr txBox="1"/>
          <p:nvPr/>
        </p:nvSpPr>
        <p:spPr>
          <a:xfrm>
            <a:off x="1051560" y="2852928"/>
            <a:ext cx="2843784" cy="1600200"/>
          </a:xfrm>
          <a:prstGeom prst="rect">
            <a:avLst/>
          </a:prstGeom>
          <a:noFill/>
          <a:ln/>
        </p:spPr>
        <p:txBody>
          <a:bodyPr wrap="square" lIns="0" tIns="0" rIns="0" bIns="0" rtlCol="0" anchor="ctr"/>
          <a:lstStyle/>
          <a:p>
            <a:pPr indent="0" marL="0">
              <a:lnSpc>
                <a:spcPts val="1728"/>
              </a:lnSpc>
              <a:buNone/>
            </a:pPr>
            <a:r>
              <a:rPr lang="en-US" sz="1350" dirty="0">
                <a:solidFill>
                  <a:srgbClr val="182620"/>
                </a:solidFill>
                <a:latin typeface="Calibri" pitchFamily="34" charset="0"/>
                <a:ea typeface="Calibri" pitchFamily="34" charset="-122"/>
                <a:cs typeface="Calibri" pitchFamily="34" charset="-120"/>
              </a:rPr>
              <a:t>120 words on one company, from its fact sheet alone, no AI. Every sentence tagged with a fact id. Bring it printed.</a:t>
            </a:r>
            <a:endParaRPr lang="en-US" sz="1350" dirty="0"/>
          </a:p>
        </p:txBody>
      </p:sp>
      <p:sp>
        <p:nvSpPr>
          <p:cNvPr id="7" name="Shape 5"/>
          <p:cNvSpPr/>
          <p:nvPr/>
        </p:nvSpPr>
        <p:spPr>
          <a:xfrm>
            <a:off x="4443984" y="2103120"/>
            <a:ext cx="3300984" cy="2560320"/>
          </a:xfrm>
          <a:prstGeom prst="roundRect">
            <a:avLst>
              <a:gd name="adj" fmla="val 2143"/>
            </a:avLst>
          </a:prstGeom>
          <a:solidFill>
            <a:srgbClr val="FFFFFF"/>
          </a:solidFill>
          <a:ln w="12700">
            <a:solidFill>
              <a:srgbClr val="B7C6D4"/>
            </a:solidFill>
            <a:prstDash val="solid"/>
          </a:ln>
          <a:effectLst>
            <a:outerShdw sx="100000" sy="100000" kx="0" ky="0" algn="bl" rotWithShape="0" blurRad="76200" dist="25400" dir="5400000">
              <a:srgbClr val="182620">
                <a:alpha val="12000"/>
              </a:srgbClr>
            </a:outerShdw>
          </a:effectLst>
        </p:spPr>
      </p:sp>
      <p:sp>
        <p:nvSpPr>
          <p:cNvPr id="8" name="Text 6"/>
          <p:cNvSpPr txBox="1"/>
          <p:nvPr/>
        </p:nvSpPr>
        <p:spPr>
          <a:xfrm>
            <a:off x="4672584" y="2286000"/>
            <a:ext cx="2843784" cy="566928"/>
          </a:xfrm>
          <a:prstGeom prst="rect">
            <a:avLst/>
          </a:prstGeom>
          <a:noFill/>
          <a:ln/>
        </p:spPr>
        <p:txBody>
          <a:bodyPr wrap="square" lIns="0" tIns="0" rIns="0" bIns="0" rtlCol="0" anchor="ctr"/>
          <a:lstStyle/>
          <a:p>
            <a:pPr indent="0" marL="0">
              <a:buNone/>
            </a:pPr>
            <a:r>
              <a:rPr lang="en-US" sz="1700" b="1" dirty="0">
                <a:solidFill>
                  <a:srgbClr val="3E6B54"/>
                </a:solidFill>
                <a:latin typeface="Calibri" pitchFamily="34" charset="0"/>
                <a:ea typeface="Calibri" pitchFamily="34" charset="-122"/>
                <a:cs typeface="Calibri" pitchFamily="34" charset="-120"/>
              </a:rPr>
              <a:t>2 · Read</a:t>
            </a:r>
            <a:endParaRPr lang="en-US" sz="1700" dirty="0"/>
          </a:p>
        </p:txBody>
      </p:sp>
      <p:sp>
        <p:nvSpPr>
          <p:cNvPr id="9" name="Text 7"/>
          <p:cNvSpPr txBox="1"/>
          <p:nvPr/>
        </p:nvSpPr>
        <p:spPr>
          <a:xfrm>
            <a:off x="4672584" y="2852928"/>
            <a:ext cx="2843784" cy="1600200"/>
          </a:xfrm>
          <a:prstGeom prst="rect">
            <a:avLst/>
          </a:prstGeom>
          <a:noFill/>
          <a:ln/>
        </p:spPr>
        <p:txBody>
          <a:bodyPr wrap="square" lIns="0" tIns="0" rIns="0" bIns="0" rtlCol="0" anchor="ctr"/>
          <a:lstStyle/>
          <a:p>
            <a:pPr indent="0" marL="0">
              <a:lnSpc>
                <a:spcPts val="1728"/>
              </a:lnSpc>
              <a:buNone/>
            </a:pPr>
            <a:r>
              <a:rPr lang="en-US" sz="1350" dirty="0">
                <a:solidFill>
                  <a:srgbClr val="182620"/>
                </a:solidFill>
                <a:latin typeface="Calibri" pitchFamily="34" charset="0"/>
                <a:ea typeface="Calibri" pitchFamily="34" charset="-122"/>
                <a:cs typeface="Calibri" pitchFamily="34" charset="-120"/>
              </a:rPr>
              <a:t>TII ch. 15, pp. 385–387 — the winnowing and Table 15-1. And ch. 7, p. 165: Chrysler.</a:t>
            </a:r>
            <a:endParaRPr lang="en-US" sz="1350" dirty="0"/>
          </a:p>
        </p:txBody>
      </p:sp>
      <p:sp>
        <p:nvSpPr>
          <p:cNvPr id="10" name="Shape 8"/>
          <p:cNvSpPr/>
          <p:nvPr/>
        </p:nvSpPr>
        <p:spPr>
          <a:xfrm>
            <a:off x="8065008" y="2103120"/>
            <a:ext cx="3300984" cy="2560320"/>
          </a:xfrm>
          <a:prstGeom prst="roundRect">
            <a:avLst>
              <a:gd name="adj" fmla="val 2143"/>
            </a:avLst>
          </a:prstGeom>
          <a:solidFill>
            <a:srgbClr val="FFFFFF"/>
          </a:solidFill>
          <a:ln w="12700">
            <a:solidFill>
              <a:srgbClr val="B7C6D4"/>
            </a:solidFill>
            <a:prstDash val="solid"/>
          </a:ln>
          <a:effectLst>
            <a:outerShdw sx="100000" sy="100000" kx="0" ky="0" algn="bl" rotWithShape="0" blurRad="76200" dist="25400" dir="5400000">
              <a:srgbClr val="182620">
                <a:alpha val="12000"/>
              </a:srgbClr>
            </a:outerShdw>
          </a:effectLst>
        </p:spPr>
      </p:sp>
      <p:sp>
        <p:nvSpPr>
          <p:cNvPr id="11" name="Text 9"/>
          <p:cNvSpPr txBox="1"/>
          <p:nvPr/>
        </p:nvSpPr>
        <p:spPr>
          <a:xfrm>
            <a:off x="8293608" y="2286000"/>
            <a:ext cx="2843784" cy="566928"/>
          </a:xfrm>
          <a:prstGeom prst="rect">
            <a:avLst/>
          </a:prstGeom>
          <a:noFill/>
          <a:ln/>
        </p:spPr>
        <p:txBody>
          <a:bodyPr wrap="square" lIns="0" tIns="0" rIns="0" bIns="0" rtlCol="0" anchor="ctr"/>
          <a:lstStyle/>
          <a:p>
            <a:pPr indent="0" marL="0">
              <a:buNone/>
            </a:pPr>
            <a:r>
              <a:rPr lang="en-US" sz="1700" b="1" dirty="0">
                <a:solidFill>
                  <a:srgbClr val="3E6B54"/>
                </a:solidFill>
                <a:latin typeface="Calibri" pitchFamily="34" charset="0"/>
                <a:ea typeface="Calibri" pitchFamily="34" charset="-122"/>
                <a:cs typeface="Calibri" pitchFamily="34" charset="-120"/>
              </a:rPr>
              <a:t>3 · Journal</a:t>
            </a:r>
            <a:endParaRPr lang="en-US" sz="1700" dirty="0"/>
          </a:p>
        </p:txBody>
      </p:sp>
      <p:sp>
        <p:nvSpPr>
          <p:cNvPr id="12" name="Text 10"/>
          <p:cNvSpPr txBox="1"/>
          <p:nvPr/>
        </p:nvSpPr>
        <p:spPr>
          <a:xfrm>
            <a:off x="8293608" y="2852928"/>
            <a:ext cx="2843784" cy="1600200"/>
          </a:xfrm>
          <a:prstGeom prst="rect">
            <a:avLst/>
          </a:prstGeom>
          <a:noFill/>
          <a:ln/>
        </p:spPr>
        <p:txBody>
          <a:bodyPr wrap="square" lIns="0" tIns="0" rIns="0" bIns="0" rtlCol="0" anchor="ctr"/>
          <a:lstStyle/>
          <a:p>
            <a:pPr indent="0" marL="0">
              <a:lnSpc>
                <a:spcPts val="1728"/>
              </a:lnSpc>
              <a:buNone/>
            </a:pPr>
            <a:r>
              <a:rPr lang="en-US" sz="1350" dirty="0">
                <a:solidFill>
                  <a:srgbClr val="182620"/>
                </a:solidFill>
                <a:latin typeface="Calibri" pitchFamily="34" charset="0"/>
                <a:ea typeface="Calibri" pitchFamily="34" charset="-122"/>
                <a:cs typeface="Calibri" pitchFamily="34" charset="-120"/>
              </a:rPr>
              <a:t>The story I was told this week — and the number I found that checked it.</a:t>
            </a:r>
            <a:endParaRPr lang="en-US" sz="1350" dirty="0"/>
          </a:p>
        </p:txBody>
      </p:sp>
      <p:sp>
        <p:nvSpPr>
          <p:cNvPr id="13" name="Text 11"/>
          <p:cNvSpPr txBox="1"/>
          <p:nvPr/>
        </p:nvSpPr>
        <p:spPr>
          <a:xfrm>
            <a:off x="822960" y="5074920"/>
            <a:ext cx="10515600" cy="640080"/>
          </a:xfrm>
          <a:prstGeom prst="rect">
            <a:avLst/>
          </a:prstGeom>
          <a:noFill/>
          <a:ln/>
        </p:spPr>
        <p:txBody>
          <a:bodyPr wrap="square" lIns="0" tIns="0" rIns="0" bIns="0" rtlCol="0" anchor="ctr"/>
          <a:lstStyle/>
          <a:p>
            <a:pPr algn="ctr" indent="0" marL="0">
              <a:buNone/>
            </a:pPr>
            <a:r>
              <a:rPr lang="en-US" sz="2400" b="1" i="1" dirty="0">
                <a:solidFill>
                  <a:srgbClr val="3E6B54"/>
                </a:solidFill>
                <a:latin typeface="Century Schoolbook" pitchFamily="34" charset="0"/>
                <a:ea typeface="Century Schoolbook" pitchFamily="34" charset="-122"/>
                <a:cs typeface="Century Schoolbook" pitchFamily="34" charset="-120"/>
              </a:rPr>
              <a:t>“We grade decisions, not outcomes.”</a:t>
            </a:r>
            <a:endParaRPr lang="en-US" sz="2400" dirty="0"/>
          </a:p>
        </p:txBody>
      </p:sp>
      <p:sp>
        <p:nvSpPr>
          <p:cNvPr id="14" name="Text 12"/>
          <p:cNvSpPr txBox="1"/>
          <p:nvPr/>
        </p:nvSpPr>
        <p:spPr>
          <a:xfrm>
            <a:off x="548640" y="6419088"/>
            <a:ext cx="3108960" cy="27432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Education, not advice.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82620"/>
        </a:solidFill>
      </p:bgPr>
    </p:bg>
    <p:spTree>
      <p:nvGrpSpPr>
        <p:cNvPr id="1" name=""/>
        <p:cNvGrpSpPr/>
        <p:nvPr/>
      </p:nvGrpSpPr>
      <p:grpSpPr>
        <a:xfrm>
          <a:off x="0" y="0"/>
          <a:ext cx="0" cy="0"/>
          <a:chOff x="0" y="0"/>
          <a:chExt cx="0" cy="0"/>
        </a:xfrm>
      </p:grpSpPr>
      <p:sp>
        <p:nvSpPr>
          <p:cNvPr id="2" name="Text 0"/>
          <p:cNvSpPr txBox="1"/>
          <p:nvPr/>
        </p:nvSpPr>
        <p:spPr>
          <a:xfrm>
            <a:off x="822960" y="731520"/>
            <a:ext cx="10058400" cy="365760"/>
          </a:xfrm>
          <a:prstGeom prst="rect">
            <a:avLst/>
          </a:prstGeom>
          <a:noFill/>
          <a:ln/>
        </p:spPr>
        <p:txBody>
          <a:bodyPr wrap="square" lIns="0" tIns="0" rIns="0" bIns="0" rtlCol="0" anchor="ctr"/>
          <a:lstStyle/>
          <a:p>
            <a:pPr indent="0" marL="0">
              <a:buNone/>
            </a:pPr>
            <a:r>
              <a:rPr lang="en-US" sz="1300" spc="300" kern="0" dirty="0">
                <a:solidFill>
                  <a:srgbClr val="B7C6D4"/>
                </a:solidFill>
                <a:latin typeface="Courier New" pitchFamily="34" charset="0"/>
                <a:ea typeface="Courier New" pitchFamily="34" charset="-122"/>
                <a:cs typeface="Courier New" pitchFamily="34" charset="-120"/>
              </a:rPr>
              <a:t>GO DEEPER — FREE, FOREVER, OPTIONAL</a:t>
            </a:r>
            <a:endParaRPr lang="en-US" sz="1300" dirty="0"/>
          </a:p>
        </p:txBody>
      </p:sp>
      <p:sp>
        <p:nvSpPr>
          <p:cNvPr id="3" name="Text 1"/>
          <p:cNvSpPr txBox="1"/>
          <p:nvPr/>
        </p:nvSpPr>
        <p:spPr>
          <a:xfrm>
            <a:off x="822960" y="1234440"/>
            <a:ext cx="10058400" cy="914400"/>
          </a:xfrm>
          <a:prstGeom prst="rect">
            <a:avLst/>
          </a:prstGeom>
          <a:noFill/>
          <a:ln/>
        </p:spPr>
        <p:txBody>
          <a:bodyPr wrap="square" lIns="0" tIns="0" rIns="0" bIns="0" rtlCol="0" anchor="ctr"/>
          <a:lstStyle/>
          <a:p>
            <a:pPr indent="0" marL="0">
              <a:buNone/>
            </a:pPr>
            <a:r>
              <a:rPr lang="en-US" sz="4400" b="1" dirty="0">
                <a:solidFill>
                  <a:srgbClr val="EEF2E9"/>
                </a:solidFill>
                <a:latin typeface="Century Schoolbook" pitchFamily="34" charset="0"/>
                <a:ea typeface="Century Schoolbook" pitchFamily="34" charset="-122"/>
                <a:cs typeface="Century Schoolbook" pitchFamily="34" charset="-120"/>
              </a:rPr>
              <a:t>The Economy 2.0</a:t>
            </a:r>
            <a:endParaRPr lang="en-US" sz="4400" dirty="0"/>
          </a:p>
        </p:txBody>
      </p:sp>
      <p:sp>
        <p:nvSpPr>
          <p:cNvPr id="4" name="Text 2"/>
          <p:cNvSpPr txBox="1"/>
          <p:nvPr/>
        </p:nvSpPr>
        <p:spPr>
          <a:xfrm>
            <a:off x="822960" y="2240280"/>
            <a:ext cx="10332720" cy="548640"/>
          </a:xfrm>
          <a:prstGeom prst="rect">
            <a:avLst/>
          </a:prstGeom>
          <a:noFill/>
          <a:ln/>
        </p:spPr>
        <p:txBody>
          <a:bodyPr wrap="square" lIns="0" tIns="0" rIns="0" bIns="0" rtlCol="0" anchor="ctr"/>
          <a:lstStyle/>
          <a:p>
            <a:pPr indent="0" marL="0">
              <a:buNone/>
            </a:pPr>
            <a:r>
              <a:rPr lang="en-US" sz="1600" dirty="0">
                <a:solidFill>
                  <a:srgbClr val="C9D6CD"/>
                </a:solidFill>
                <a:latin typeface="Calibri" pitchFamily="34" charset="0"/>
                <a:ea typeface="Calibri" pitchFamily="34" charset="-122"/>
                <a:cs typeface="Calibri" pitchFamily="34" charset="-120"/>
              </a:rPr>
              <a:t>The free university text, tracking tonight's ideas:</a:t>
            </a:r>
            <a:endParaRPr lang="en-US" sz="1600" dirty="0"/>
          </a:p>
        </p:txBody>
      </p:sp>
      <p:sp>
        <p:nvSpPr>
          <p:cNvPr id="5" name="Shape 3"/>
          <p:cNvSpPr/>
          <p:nvPr/>
        </p:nvSpPr>
        <p:spPr>
          <a:xfrm>
            <a:off x="822960" y="2926080"/>
            <a:ext cx="10515600" cy="640080"/>
          </a:xfrm>
          <a:prstGeom prst="roundRect">
            <a:avLst>
              <a:gd name="adj" fmla="val 7143"/>
            </a:avLst>
          </a:prstGeom>
          <a:solidFill>
            <a:srgbClr val="223730"/>
          </a:solidFill>
          <a:ln w="12700">
            <a:solidFill>
              <a:srgbClr val="3E6B54"/>
            </a:solidFill>
            <a:prstDash val="solid"/>
          </a:ln>
        </p:spPr>
      </p:sp>
      <p:sp>
        <p:nvSpPr>
          <p:cNvPr id="6" name="Text 4"/>
          <p:cNvSpPr txBox="1"/>
          <p:nvPr/>
        </p:nvSpPr>
        <p:spPr>
          <a:xfrm>
            <a:off x="1051560" y="3035808"/>
            <a:ext cx="10058400" cy="457200"/>
          </a:xfrm>
          <a:prstGeom prst="rect">
            <a:avLst/>
          </a:prstGeom>
          <a:noFill/>
          <a:ln/>
        </p:spPr>
        <p:txBody>
          <a:bodyPr wrap="square" lIns="0" tIns="0" rIns="0" bIns="0" rtlCol="0" anchor="ctr"/>
          <a:lstStyle/>
          <a:p>
            <a:pPr indent="0" marL="0">
              <a:buNone/>
            </a:pPr>
            <a:r>
              <a:rPr lang="en-US" sz="1400" b="1" dirty="0">
                <a:solidFill>
                  <a:srgbClr val="9DBCA9"/>
                </a:solidFill>
                <a:latin typeface="Courier New" pitchFamily="34" charset="0"/>
                <a:ea typeface="Courier New" pitchFamily="34" charset="-122"/>
                <a:cs typeface="Courier New" pitchFamily="34" charset="-120"/>
              </a:rPr>
              <a:t>MICRO UNIT 10  </a:t>
            </a:r>
            <a:pPr indent="0" marL="0">
              <a:buNone/>
            </a:pPr>
            <a:r>
              <a:rPr lang="en-US" sz="1400" dirty="0">
                <a:solidFill>
                  <a:srgbClr val="EEF2E9"/>
                </a:solidFill>
                <a:latin typeface="Calibri" pitchFamily="34" charset="0"/>
                <a:ea typeface="Calibri" pitchFamily="34" charset="-122"/>
                <a:cs typeface="Calibri" pitchFamily="34" charset="-120"/>
              </a:rPr>
              <a:t>Market successes and failures — why a price can drift from what a thing is worth</a:t>
            </a:r>
            <a:endParaRPr lang="en-US" sz="1400" dirty="0"/>
          </a:p>
        </p:txBody>
      </p:sp>
      <p:sp>
        <p:nvSpPr>
          <p:cNvPr id="7" name="Shape 5"/>
          <p:cNvSpPr/>
          <p:nvPr/>
        </p:nvSpPr>
        <p:spPr>
          <a:xfrm>
            <a:off x="822960" y="3703320"/>
            <a:ext cx="10515600" cy="640080"/>
          </a:xfrm>
          <a:prstGeom prst="roundRect">
            <a:avLst>
              <a:gd name="adj" fmla="val 7143"/>
            </a:avLst>
          </a:prstGeom>
          <a:solidFill>
            <a:srgbClr val="223730"/>
          </a:solidFill>
          <a:ln w="12700">
            <a:solidFill>
              <a:srgbClr val="3E6B54"/>
            </a:solidFill>
            <a:prstDash val="solid"/>
          </a:ln>
        </p:spPr>
      </p:sp>
      <p:sp>
        <p:nvSpPr>
          <p:cNvPr id="8" name="Text 6"/>
          <p:cNvSpPr txBox="1"/>
          <p:nvPr/>
        </p:nvSpPr>
        <p:spPr>
          <a:xfrm>
            <a:off x="1051560" y="3813048"/>
            <a:ext cx="10058400" cy="457200"/>
          </a:xfrm>
          <a:prstGeom prst="rect">
            <a:avLst/>
          </a:prstGeom>
          <a:noFill/>
          <a:ln/>
        </p:spPr>
        <p:txBody>
          <a:bodyPr wrap="square" lIns="0" tIns="0" rIns="0" bIns="0" rtlCol="0" anchor="ctr"/>
          <a:lstStyle/>
          <a:p>
            <a:pPr indent="0" marL="0">
              <a:buNone/>
            </a:pPr>
            <a:r>
              <a:rPr lang="en-US" sz="1400" b="1" dirty="0">
                <a:solidFill>
                  <a:srgbClr val="9DBCA9"/>
                </a:solidFill>
                <a:latin typeface="Courier New" pitchFamily="34" charset="0"/>
                <a:ea typeface="Courier New" pitchFamily="34" charset="-122"/>
                <a:cs typeface="Courier New" pitchFamily="34" charset="-120"/>
              </a:rPr>
              <a:t>MICRO UNIT 11  </a:t>
            </a:r>
            <a:pPr indent="0" marL="0">
              <a:buNone/>
            </a:pPr>
            <a:r>
              <a:rPr lang="en-US" sz="1400" dirty="0">
                <a:solidFill>
                  <a:srgbClr val="EEF2E9"/>
                </a:solidFill>
                <a:latin typeface="Calibri" pitchFamily="34" charset="0"/>
                <a:ea typeface="Calibri" pitchFamily="34" charset="-122"/>
                <a:cs typeface="Calibri" pitchFamily="34" charset="-120"/>
              </a:rPr>
              <a:t>Asset markets and bubbles — stories, herds and the price of a share</a:t>
            </a:r>
            <a:endParaRPr lang="en-US" sz="1400" dirty="0"/>
          </a:p>
        </p:txBody>
      </p:sp>
      <p:sp>
        <p:nvSpPr>
          <p:cNvPr id="9" name="Shape 7"/>
          <p:cNvSpPr/>
          <p:nvPr/>
        </p:nvSpPr>
        <p:spPr>
          <a:xfrm>
            <a:off x="822960" y="4480560"/>
            <a:ext cx="10515600" cy="640080"/>
          </a:xfrm>
          <a:prstGeom prst="roundRect">
            <a:avLst>
              <a:gd name="adj" fmla="val 7143"/>
            </a:avLst>
          </a:prstGeom>
          <a:solidFill>
            <a:srgbClr val="223730"/>
          </a:solidFill>
          <a:ln w="12700">
            <a:solidFill>
              <a:srgbClr val="3E6B54"/>
            </a:solidFill>
            <a:prstDash val="solid"/>
          </a:ln>
        </p:spPr>
      </p:sp>
      <p:sp>
        <p:nvSpPr>
          <p:cNvPr id="10" name="Text 8"/>
          <p:cNvSpPr txBox="1"/>
          <p:nvPr/>
        </p:nvSpPr>
        <p:spPr>
          <a:xfrm>
            <a:off x="1051560" y="4590288"/>
            <a:ext cx="10058400" cy="457200"/>
          </a:xfrm>
          <a:prstGeom prst="rect">
            <a:avLst/>
          </a:prstGeom>
          <a:noFill/>
          <a:ln/>
        </p:spPr>
        <p:txBody>
          <a:bodyPr wrap="square" lIns="0" tIns="0" rIns="0" bIns="0" rtlCol="0" anchor="ctr"/>
          <a:lstStyle/>
          <a:p>
            <a:pPr indent="0" marL="0">
              <a:buNone/>
            </a:pPr>
            <a:r>
              <a:rPr lang="en-US" sz="1400" b="1" dirty="0">
                <a:solidFill>
                  <a:srgbClr val="9DBCA9"/>
                </a:solidFill>
                <a:latin typeface="Courier New" pitchFamily="34" charset="0"/>
                <a:ea typeface="Courier New" pitchFamily="34" charset="-122"/>
                <a:cs typeface="Courier New" pitchFamily="34" charset="-120"/>
              </a:rPr>
              <a:t>MACRO UNIT 6  </a:t>
            </a:r>
            <a:pPr indent="0" marL="0">
              <a:buNone/>
            </a:pPr>
            <a:r>
              <a:rPr lang="en-US" sz="1400" dirty="0">
                <a:solidFill>
                  <a:srgbClr val="EEF2E9"/>
                </a:solidFill>
                <a:latin typeface="Calibri" pitchFamily="34" charset="0"/>
                <a:ea typeface="Calibri" pitchFamily="34" charset="-122"/>
                <a:cs typeface="Calibri" pitchFamily="34" charset="-120"/>
              </a:rPr>
              <a:t>The financial sector — why banks need different tests</a:t>
            </a:r>
            <a:endParaRPr lang="en-US" sz="1400" dirty="0"/>
          </a:p>
        </p:txBody>
      </p:sp>
      <p:sp>
        <p:nvSpPr>
          <p:cNvPr id="11" name="Text 9"/>
          <p:cNvSpPr txBox="1"/>
          <p:nvPr/>
        </p:nvSpPr>
        <p:spPr>
          <a:xfrm>
            <a:off x="822960" y="5760720"/>
            <a:ext cx="10058400" cy="457200"/>
          </a:xfrm>
          <a:prstGeom prst="rect">
            <a:avLst/>
          </a:prstGeom>
          <a:noFill/>
          <a:ln/>
        </p:spPr>
        <p:txBody>
          <a:bodyPr wrap="square" lIns="0" tIns="0" rIns="0" bIns="0" rtlCol="0" anchor="ctr"/>
          <a:lstStyle/>
          <a:p>
            <a:pPr indent="0" marL="0">
              <a:buNone/>
            </a:pPr>
            <a:r>
              <a:rPr lang="en-US" sz="1800" b="1" dirty="0">
                <a:solidFill>
                  <a:srgbClr val="EEF2E9"/>
                </a:solidFill>
                <a:latin typeface="Courier New" pitchFamily="34" charset="0"/>
                <a:ea typeface="Courier New" pitchFamily="34" charset="-122"/>
                <a:cs typeface="Courier New" pitchFamily="34" charset="-120"/>
              </a:rPr>
              <a:t>books.core-econ.org/the-economy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Intro to the Stock Market</dc:creator>
  <cp:lastModifiedBy>Intro to the Stock Market</cp:lastModifiedBy>
  <cp:revision>1</cp:revision>
  <dcterms:created xsi:type="dcterms:W3CDTF">2026-10-19T09:34:21Z</dcterms:created>
  <dcterms:modified xsi:type="dcterms:W3CDTF">2026-10-19T09:34:21Z</dcterms:modified>
</cp:coreProperties>
</file>