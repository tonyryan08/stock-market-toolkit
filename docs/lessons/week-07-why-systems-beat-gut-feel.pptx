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PRE-CHECK the evening before: /signals shows the 22:50 UTC date; every core company long or flat; small caps warming up. Open three charts at 1y: overlay draws, strip hovers. Print the predict-first slips. The spreadsheet reconciliation (VC-19) done before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The ANDE catch is in the verification record (VC-18 h). It is the bridge: a rule caught a machine; tonight a rule reads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No charts on screen yet. The slips are the evening's experiment: the room versus a rule, scored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The figures are the papers' own abstracts: Barber &amp; Odean 2000 (11.4% v 17.9%); Odean 1998 (gains realised ~1.5× losses). Carver includes himself among the flawed. The rule was checked three ways before tonight: the book, his open-source code, a spreadsheet.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Every number on this slide lives in one table in the code (src/lib/signals.ts) and is Carver's: the spans, the 35-day vol lookback, the 3.75 scalar, the ±20 cap, 256 days. The only adaptation is long-only. Decision log #17.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on the board with the fractions 2/17 and 2/65 — a λ rounded to four places gives 10.3390 and 10.0915, one digit off. The test file carries exactly these figures; the room can see that a rule is arithmetic anyone can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/api/signals/AAPL → summary.flips for the five-year count. The slips are scored honestly; a room that beats the rule tonight has learned nothing about tomorrow, and say so warmly.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Carver's whole system is built on measuring risk first and sizing to it; the course follows. No sizing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Start both EWMAs at the first close; the variance recursion takes the mean as zero. The first rows will differ from the toolkit's only if the spreadsheet starts differently; the last rows agree regardless (the start is forgotten after ~200 days).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Scripted answers in the lesson plan: 'so the rule says buy the long ones?' and 'does this actually make money?'. The honest answer to the second is the Hurst paper: 1880–2016, 67 markets, modest Sharpe, big drawdowns.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8 sizes and stops the one instrument each student chose. Close with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never assigned, never examined.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THE STOCK MARKET  ·  PHASE 3: RULES, THE CARVER 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systems beat gut feel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rule, read the same way over every company every night — and the evening we find out what a rule is, what it costs to follow one, and what it cannot know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 rot="-240000">
            <a:off x="10149840" y="640080"/>
            <a:ext cx="13716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7 / 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grade decisions, not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 — HARVEST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120 words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 aloud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52928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with its fact tag. There is usually one sentence without one. Find it together.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3984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did it to itself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852928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Oct: the AI wrote The Andersons' revenue as 11.2 billion. The sheet said 11.3. The toolkit flagged it. Your exercise, on a live page, before any room existed.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3608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852928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reading to deciding. The first decision is who decides: you, on the night — or a rule, written down before.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 — BEFORE ANYONE SEES A CHART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first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9692640" y="640080"/>
            <a:ext cx="201168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 FIRST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slip: </a:t>
            </a:r>
            <a:pPr indent="0" marL="0">
              <a:buNone/>
            </a:pPr>
            <a:r>
              <a:rPr lang="en-US" sz="22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companies from the universe you believe are going up — and three you believe are going down.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Name. Date. Fold it.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A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gut, on the record, before the rule speaks. They come back at 0:45.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 — CARVER'S FIRST CHAPTER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flawed human brain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3009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trade too much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61488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66,000 households, 1991–96. The fifth that traded most earned 11.4% a year. The market made 17.9%. Overconfidence, measured in commissions.</a:t>
            </a:r>
            <a:endParaRPr lang="en-US" sz="1350" dirty="0"/>
          </a:p>
          <a:p>
            <a:pPr indent="0" marL="0">
              <a:lnSpc>
                <a:spcPts val="1728"/>
              </a:lnSpc>
              <a:buNone/>
            </a:pPr>
            <a:endParaRPr lang="en-US" sz="135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&amp; Odean, 2000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3984" y="2011680"/>
            <a:ext cx="33009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19456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winners, keep losers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761488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kind of records (10,000 accounts, 1987–93): about 50% more likely to sell a share showing a gain than one showing a loss. Loss aversion with a brokerage account.</a:t>
            </a:r>
            <a:endParaRPr lang="en-US" sz="1350" dirty="0"/>
          </a:p>
          <a:p>
            <a:pPr indent="0" marL="0">
              <a:lnSpc>
                <a:spcPts val="1728"/>
              </a:lnSpc>
              <a:buNone/>
            </a:pPr>
            <a:endParaRPr lang="en-US" sz="135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Odean, 1998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2011680"/>
            <a:ext cx="33009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3608" y="219456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has none of this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761488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overconfident, feel a loss, or read the news. It does the same thing on a bad night as on a good one. What it CAN be is wrong — openly, measurably, testably.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that rules are right. That rules can be checked, and gut feel cannot.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Trading ch. 1; Barber &amp; Odean, J. Finance 55(2); Odean, J. Finance 53(5)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0:35 — ONE INSTRUMENT, ONE RULE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arithmetic, in full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it is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number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B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λ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weight on today: 2 ÷ (span + 1)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days: 2/17 = 0.117647 · 64 days: 2/65 = 0.030769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B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EWMA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× today's close + (1 − λ) × yesterday's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both at the first close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B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 standard deviation of daily price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35 — Carver's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B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forecast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 × (EWMA₁₆ − EWMA₆₄) ÷ 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capped at ±20; 3.75 is Carver's scalar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B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above zero → LONG; otherwise FLAT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long-only: no shorts, no leverage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B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instrument risk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of daily % returns × 16 (√256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year's volatility, as a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fast average moves first. A crossover is the fast one overtaking the slow one — which only happens after a trend has been going a while. Late on purpose: being late is what filters the noise.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Trading — the Starter System; Systematic Trading ch. 7; pysystemtrade (GPL)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HAND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closes: 10, 11, 12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4251960"/>
                <a:gridCol w="4251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EWMA₁₆ (λ = 2/17)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EWMA₆₄ (λ = 2/65)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(start)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(start)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 × 11 + 15 × 10) ÷ 17 = 10.117647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 × 11 + 63 × 10) ÷ 65 = 10.030769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 × 12 + 15 × 10.117647) ÷ 17 = 10.339100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 × 12 + 63 × 10.030769) ÷ 65 = 10.091361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day 3 the fast average is already 0.25 above the slow one. Use the fractions: a four-place λ moves the last digit. The rule is not yet trusted — it needs 20 changes for σ and 128 closes before it calls a state — but you can see which way it leans, and you can check every digit.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src/lib/signals.test.ts — the same three closes, pinned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0:45 — LIVE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rule, over the whole universe, tonight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course URL ]/signals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09360" y="251460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course URL ]/prices/AAPL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tally first: </a:t>
            </a:r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long, how many flat, how many warming up. Then one chart: the blue 16-day line, the red dashed 64-day line, the strip underneath — green where the rule was long, grey where it was flat. Hover the strip for the dates.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the slips. Keep the tally on the board: agreed with the rule · disagreed. Expect about half. So is the rule, on any one day. It will do the same thing tomorrow; you will not.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 — THE NUMBER EVERYTHING HANGS OFF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Instrument risk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0098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07208"/>
            <a:ext cx="28437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annualised volatility of the share: the EW standard deviation of daily returns × 16. A share at 30% moves about 30% a year, two years in three — up or down.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3984" y="2057400"/>
            <a:ext cx="330098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off the page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807208"/>
            <a:ext cx="28437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names typically 20–30%. Small caps 40% and up. Rank the universe by it in your head; the rule already has.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2057400"/>
            <a:ext cx="330098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3608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807208"/>
            <a:ext cx="28437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number becomes a position size — a volatile share gets a smaller holding — and a stop: half the annual risk below the high. Everything in Phase 3 hangs off it.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Trading — instrument risk; Systematic Trading ch. 9–10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 — PAIRS: THE SPREADSHEET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Reproduce the machine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0098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07208"/>
            <a:ext cx="28437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course URL ]/api/prices/AAPL?days=1900&amp;csv=1 — the whole five years (a one-year sheet still remembers its start in the slow average). Open it in a spreadsheet; use column F, adj_close.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3984" y="2057400"/>
            <a:ext cx="330098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807208"/>
            <a:ext cx="28437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EWMA₁₆ · EWMA₆₄ · price change · variance (λ × change² + (1 − λ) × yesterday's) · σ = √variance · forecast · state.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2057400"/>
            <a:ext cx="330098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3608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807208"/>
            <a:ext cx="28437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row must match /api/signals/AAPL → latest: the averages and σ to six decimals, the forecast to two. It will. A rule is an answer you can reproduce; an oracle is one you can't.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syllabus's exit check for this week, done by the room instead of the tutor.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VC-19 — three tickers reconciled, in the verification record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 OUT LOUD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is not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009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07208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is not “buy”; a flat is not “sell”. The rule has read 64 days of closes and divided by the noise. It knows nothing else.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3984" y="2057400"/>
            <a:ext cx="33009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backtest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807208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strip shows when the rule was long. It shows no returns, no costs, no stops. Trend rules like this one have made modest money across many markets over a century of data, with long, deep drawdowns — and can lose on any one share in any one year.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2057400"/>
            <a:ext cx="33009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3608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finished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807208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sizing, no stops, no tickets — week 8. The small-cap tier is warming up until 128 closes are stored, and is not split-adjusted: a split would show as a false flip (on the register).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Hurst, Ooi &amp; Pedersen (2017), J. Portfolio Management 44(1)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 — HOMEWORK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one instrument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rule in your words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52928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lines, no symbols, as you would explain it to a friend. Bring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3984" y="210312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Pick your one instrument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852928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you will follow with this rule for the rest of the course. Not the one you like: the one whose books, chart and flips you have read. Why, in the journal.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210312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3608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852928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System's opening-rule and instrument-risk chapters (course copy). Optional, the science: Hurst, Ooi &amp; Pedersen, “A Century of Evidence on Trend-Following Investing” — free on AQR's site.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“We grade decisions, not outcomes.”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DEEPER — FREE, FOREVER, OPTIONAL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science, and the code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rule rests on is public and free to read: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0515600" cy="603504"/>
          </a:xfrm>
          <a:prstGeom prst="roundRect">
            <a:avLst>
              <a:gd name="adj" fmla="val 7576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2000  </a:t>
            </a:r>
            <a:pPr indent="0" marL="0">
              <a:buNone/>
            </a:pPr>
            <a:r>
              <a:rPr lang="en-US" sz="135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&amp; Odean, “Trading Is Hazardous to Your Wealth” — what trading on feel costs, measured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0515600" cy="603504"/>
          </a:xfrm>
          <a:prstGeom prst="roundRect">
            <a:avLst>
              <a:gd name="adj" fmla="val 7576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2017  </a:t>
            </a:r>
            <a:pPr indent="0" marL="0">
              <a:buNone/>
            </a:pPr>
            <a:r>
              <a:rPr lang="en-US" sz="135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Hurst, Ooi &amp; Pedersen, “A Century of Evidence on Trend-Following Investing” — 1880–2016, 67 markets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10515600" cy="603504"/>
          </a:xfrm>
          <a:prstGeom prst="roundRect">
            <a:avLst>
              <a:gd name="adj" fmla="val 7576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 </a:t>
            </a:r>
            <a:pPr indent="0" marL="0">
              <a:buNone/>
            </a:pPr>
            <a:r>
              <a:rPr lang="en-US" sz="135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pysystemtrade — Carver's own open-source system (GitHub, GPL) — the constants the toolkit uses, in his hand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10515600" cy="603504"/>
          </a:xfrm>
          <a:prstGeom prst="roundRect">
            <a:avLst>
              <a:gd name="adj" fmla="val 7576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UNIT 11  </a:t>
            </a:r>
            <a:pPr indent="0" marL="0">
              <a:buNone/>
            </a:pPr>
            <a:r>
              <a:rPr lang="en-US" sz="135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markets and bubbles (The Economy 2.0) — stories, herds and the price of a share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github.com/robcarver17/pysystemtrade  ·  books.core-econ.org/the-economy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 to the Stock Market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— Why Systems Beat Gut Feel</dc:title>
  <dc:subject>Intro to the Stock Market, Phase 3</dc:subject>
  <dc:creator>Intro to the Stock Market</dc:creator>
  <cp:lastModifiedBy>Intro to the Stock Market</cp:lastModifiedBy>
  <cp:revision>1</cp:revision>
  <dcterms:created xsi:type="dcterms:W3CDTF">2026-10-24T16:18:42Z</dcterms:created>
  <dcterms:modified xsi:type="dcterms:W3CDTF">2026-10-24T16:18:42Z</dcterms:modified>
</cp:coreProperties>
</file>