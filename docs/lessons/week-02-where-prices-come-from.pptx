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0:00–0:10 Homework harvest first (next slide). Then the anatomy of a quote. Before class: test your demo tickers against your own key so class time spends the ration on ceremony, not debugging.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min, keep it brisk. Low prep, compounds nicely — this is a recurring opener from now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min. Build on week 1: 'a price is the last deal two strangers agreed' — the last price is HISTORY; the queues are NOW. Hand out the two printed quote screens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one liquid mega-cap and one small-cap with a visible spread, any broker site, one per pair. The cost ledger stays on the flip chart all term — week 11's fees-and-tax lesson adds 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min. If asked 'which broker shows real-time free?' — some do; now the class can ask who's paying for that, and with what. Full answer arrives in week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min discussion. Let it run — someone will say 'why not fetch everything once at night and remember it?' THAT STUDENT HAS JUST INVENTED NEXT WEEK. Name them, credit them, promise it. If nobody says it: 'what would a sensible person do instead of looking things up one at a time?' Don't rescue the silence too 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min, flip chart. Next week's nightly history stores adjusted closes for exactly this reason — say so, it connects the weeks.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min. Failing well is a feature — scams never fail well. The limit message IS the lesson in one JSON field.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Scam-literacy seed #2: real systems show you how they work AND how they protect secrets. Next slide shows the second half of that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min, on screen: the repo's key-template file next to the ignore-list that keeps real keys out. True story for the curious: while testing limits, a supplier's error message echoed our secret key back, and the public site would have repeated it. Found it BECAUSE we test our failures; fixed same day. Good systems fail honestly.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feeds week 4 directly (what is a company worth) — their lived knowledge becomes the qualitative half of analysis. The gaps feed next week's universe conversation.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deal as last week: free, optional, never examined.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B7C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 TO THE STOCK MARKET  ·  A COMMUNITY COURSE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8308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7000"/>
              </a:lnSpc>
              <a:buNone/>
            </a:pPr>
            <a:r>
              <a:rPr lang="en-US" sz="6600" b="1" dirty="0">
                <a:solidFill>
                  <a:srgbClr val="EEF2E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Where prices come from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434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9DBCA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Bid, ask, the toll bridge between them — and what “free” data really costs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 rot="-240000">
            <a:off x="10149840" y="640080"/>
            <a:ext cx="1371600" cy="384048"/>
          </a:xfrm>
          <a:prstGeom prst="rect">
            <a:avLst/>
          </a:prstGeom>
          <a:noFill/>
          <a:ln w="19050">
            <a:solidFill>
              <a:srgbClr val="B43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B43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WK 2 / 12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9893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 grade decisions, not outcomes.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0:00 — HOMEWORK HARVEST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Wall of Resulting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 rot="-240000">
            <a:off x="10332720" y="594360"/>
            <a:ext cx="1188720" cy="384048"/>
          </a:xfrm>
          <a:prstGeom prst="rect">
            <a:avLst/>
          </a:prstGeom>
          <a:noFill/>
          <a:ln w="19050">
            <a:solidFill>
              <a:srgbClr val="B43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B43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VOTE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Headlines out. </a:t>
            </a:r>
            <a:pPr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each: why does yours smell like luck dressed as skill?
</a:t>
            </a:r>
            <a:pPr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votes. </a:t>
            </a:r>
            <a:pPr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gets pinned — and stays up all term.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0233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A7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Wall grows every week. By demo day it is a museum of other people's confidence.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KEY PICTURE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quote is two queues and a gap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05840" y="2286000"/>
            <a:ext cx="3749040" cy="2468880"/>
          </a:xfrm>
          <a:prstGeom prst="roundRect">
            <a:avLst>
              <a:gd name="adj" fmla="val 2222"/>
            </a:avLst>
          </a:prstGeom>
          <a:solidFill>
            <a:srgbClr val="DCE8DF"/>
          </a:solidFill>
          <a:ln w="19050">
            <a:solidFill>
              <a:srgbClr val="3E6B5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BID  —  the buyers' queue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92608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waiting to buy, and the most they'll pay.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bidder stands at the front.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52360" y="2286000"/>
            <a:ext cx="3749040" cy="2468880"/>
          </a:xfrm>
          <a:prstGeom prst="roundRect">
            <a:avLst>
              <a:gd name="adj" fmla="val 2222"/>
            </a:avLst>
          </a:prstGeom>
          <a:solidFill>
            <a:srgbClr val="F3E4E2"/>
          </a:solidFill>
          <a:ln w="19050">
            <a:solidFill>
              <a:srgbClr val="B438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0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3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  —  the sellers' queue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292608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waiting to sell, and the least they'll take.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seller stands at the front.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83480" y="2286000"/>
            <a:ext cx="22402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74920" y="2514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6B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SPREAD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074920" y="29718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toll bridge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074920" y="38862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in a hurry,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the toll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512064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“last price” on every app is history. These two queues are the present. Volume is how busy the bridge is; OHLC is a whole day folded into four numbers.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64190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deeper, free: CORE, The Economy 2.0 — Micro Unit 8 · Macro Unit 6, 'The financial sector'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PAPER EXERCISE — IN PAIRS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Price the toll bridge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5111496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2240280"/>
            <a:ext cx="4654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screen A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770632"/>
            <a:ext cx="46542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giant company everyone's heard of. Find the bid, find the ask. Now: buy €1,000 worth and sell it straight back. What did the round trip cost?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54496" y="2057400"/>
            <a:ext cx="5111496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83096" y="2240280"/>
            <a:ext cx="4654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screen B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83096" y="2770632"/>
            <a:ext cx="46542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company you haven't heard of. Same exercise. The toll will genuinely surprise you — and it's charged in silence, on every trade, forever.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1663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438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Both numbers go on the board: the first entries in the course's running cost ledger.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IS OUR DATA DELAYED?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Because immediacy is the product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3300984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2240280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3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co-located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770632"/>
            <a:ext cx="28437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renting space inside the exchange building. Serious money, paying serious rent, to be microseconds ahead.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43984" y="2057400"/>
            <a:ext cx="3300984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72584" y="2240280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15-minute delay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72584" y="2770632"/>
            <a:ext cx="28437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cheap seats. Fine for humans; most free apps live here, quietly.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65008" y="2057400"/>
            <a:ext cx="3300984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93608" y="2240280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day — us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293608" y="2770632"/>
            <a:ext cx="28437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calm number after the noise stops. Free. And nothing this course teaches needs more.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166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Plant the flag now: feeling that you need speed is usually a sign you're gambling, not investing.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64190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deeper, free: CORE, The Economy 2.0 — Micro Unit 10, 'Market successes and failures'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5029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0" b="1" dirty="0">
                <a:solidFill>
                  <a:srgbClr val="3E6B5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25</a:t>
            </a:r>
            <a:endParaRPr lang="en-US" sz="170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192024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live lookups per day.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For the whole class.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035040" y="356616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free data ration. So — if you had 25 looks a day at the entire market, how would you spend them?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 rot="-240000">
            <a:off x="1188720" y="4572000"/>
            <a:ext cx="2468880" cy="384048"/>
          </a:xfrm>
          <a:prstGeom prst="rect">
            <a:avLst/>
          </a:prstGeom>
          <a:noFill/>
          <a:ln w="19050">
            <a:solidFill>
              <a:srgbClr val="B43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B43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RATION BOOK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CHARTS LIE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50% crash where nobody lost a cent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2103120"/>
            <a:ext cx="31089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2286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Monday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69748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 share</a:t>
            </a:r>
            <a:endParaRPr lang="en-US" sz="28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€100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160520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5029200" y="2103120"/>
            <a:ext cx="31089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57800" y="2286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Tuesday (2-for-1 split)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257800" y="269748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 shares</a:t>
            </a:r>
            <a:endParaRPr lang="en-US" sz="28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€50 each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8229600" y="2103120"/>
            <a:ext cx="3108960" cy="2103120"/>
          </a:xfrm>
          <a:prstGeom prst="roundRect">
            <a:avLst>
              <a:gd name="adj" fmla="val 2609"/>
            </a:avLst>
          </a:prstGeom>
          <a:solidFill>
            <a:srgbClr val="F3E4E2"/>
          </a:solidFill>
          <a:ln w="19050">
            <a:solidFill>
              <a:srgbClr val="B438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58200" y="2286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3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chart shows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458200" y="269748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B438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−50%</a:t>
            </a:r>
            <a:endParaRPr lang="en-US" sz="28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B438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“crash”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57200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Dividends do the same trick in miniature — cash leaks out of the price on the ex-date.
</a:t>
            </a:r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adjusted prices — history restated as if today's share structure had always existed.
</a:t>
            </a:r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rule: raw prices for today; adjusted prices for any chart longer than a season.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64190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deeper, free: CORE, The Economy 2.0 — Macro Unit 6, 'The financial sector'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0:55 — PHONES OUT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Spend the ration deliberately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11680"/>
            <a:ext cx="10332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18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AAPL — read the response out loud together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18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TSCO.LON — a London listing; note the symbol dialect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18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One ticker the class chooses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18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A nonsense ticker — watch it fail politely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18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Budget dies early? Celebrate — read the limit message off the screen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029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A7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 experiment plan, not a scramble: ~8 of the 25, spent on purpose.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HONEST DETAILS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 every single answer the toolkit gives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5111496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2286000"/>
            <a:ext cx="4654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“delayed”: true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816352"/>
            <a:ext cx="46542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toolkit admits its data is delayed — in writing, every time. No fine print, no asterisk.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54496" y="2103120"/>
            <a:ext cx="5111496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83096" y="2286000"/>
            <a:ext cx="4654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“warnings”: […]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83096" y="2816352"/>
            <a:ext cx="46542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data supplier refuses or limits us, you're told exactly what happened, in plain words.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8463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100" b="1" i="1" dirty="0">
                <a:solidFill>
                  <a:srgbClr val="3E6B5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toolkit tells the truth about its own data.</a:t>
            </a:r>
            <a:endParaRPr lang="en-US" sz="2100" dirty="0"/>
          </a:p>
          <a:p>
            <a:pPr indent="0" marL="0">
              <a:lnSpc>
                <a:spcPts val="2900"/>
              </a:lnSpc>
              <a:buNone/>
            </a:pPr>
            <a:r>
              <a:rPr lang="en-US" sz="2100" b="1" i="1" dirty="0">
                <a:solidFill>
                  <a:srgbClr val="3E6B5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Hold everything you meet after this course to that standard.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64190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deeper, free: CORE, The Economy 2.0 — Micro Unit 10 — information and market failures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8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B7C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TRANSPARENCY MINUTE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F2E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lock and the promise, side by side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5120640" cy="2834640"/>
          </a:xfrm>
          <a:prstGeom prst="roundRect">
            <a:avLst>
              <a:gd name="adj" fmla="val 1935"/>
            </a:avLst>
          </a:prstGeom>
          <a:solidFill>
            <a:srgbClr val="223730"/>
          </a:solidFill>
          <a:ln w="19050">
            <a:solidFill>
              <a:srgbClr val="3E6B5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606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DBC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PROMISE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306324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EE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of code — every rule, every calculation — public on the internet, forever. No account needed to read it.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63640" y="2377440"/>
            <a:ext cx="5120640" cy="2834640"/>
          </a:xfrm>
          <a:prstGeom prst="roundRect">
            <a:avLst>
              <a:gd name="adj" fmla="val 1935"/>
            </a:avLst>
          </a:prstGeom>
          <a:solidFill>
            <a:srgbClr val="223730"/>
          </a:solidFill>
          <a:ln w="19050">
            <a:solidFill>
              <a:srgbClr val="B438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2606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LOCK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306324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EE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secret keys that fetch the data? Sealed, never published — and you can verify that claim yourself, in the public code.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5778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DBCA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Open about how it works. Careful with what must stay secret. That combination is what honest looks like.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1:20 — HOMEWORK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company you actually know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5111496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2286000"/>
            <a:ext cx="4654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journal entry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816352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company you genuinely meet in daily life — the shop, the phone, the airline. Title: “What do I actually know about this business?” No numbers. No looking anything up. Just knowledge from living.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54496" y="2103120"/>
            <a:ext cx="5111496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83096" y="2286000"/>
            <a:ext cx="4654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 one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83096" y="2816352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lookup to find your company's ticker symbol. If the lookup can't find it — write that down too. Coverage gaps are data, and next week they matter.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B7C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 DEEPER — FREE, FOREVER, OPTIONAL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EF2E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Economy 2.0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4028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university economics course by CORE Econ — free online, no account, no catch. The same ideas tonight's lesson used, done properly: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063240"/>
            <a:ext cx="10515600" cy="640080"/>
          </a:xfrm>
          <a:prstGeom prst="roundRect">
            <a:avLst>
              <a:gd name="adj" fmla="val 7143"/>
            </a:avLst>
          </a:prstGeom>
          <a:solidFill>
            <a:srgbClr val="223730"/>
          </a:solidFill>
          <a:ln w="12700">
            <a:solidFill>
              <a:srgbClr val="3E6B5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31729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DBC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 UNIT 8  </a:t>
            </a:r>
            <a:pPr indent="0" marL="0">
              <a:buNone/>
            </a:pPr>
            <a:r>
              <a:rPr lang="en-US" sz="1400" dirty="0">
                <a:solidFill>
                  <a:srgbClr val="EE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and demand — bid, ask and how the gap closes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840480"/>
            <a:ext cx="10515600" cy="640080"/>
          </a:xfrm>
          <a:prstGeom prst="roundRect">
            <a:avLst>
              <a:gd name="adj" fmla="val 7143"/>
            </a:avLst>
          </a:prstGeom>
          <a:solidFill>
            <a:srgbClr val="223730"/>
          </a:solidFill>
          <a:ln w="12700">
            <a:solidFill>
              <a:srgbClr val="3E6B5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39502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DBC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 UNIT 10  </a:t>
            </a:r>
            <a:pPr indent="0" marL="0">
              <a:buNone/>
            </a:pPr>
            <a:r>
              <a:rPr lang="en-US" sz="1400" dirty="0">
                <a:solidFill>
                  <a:srgbClr val="EE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successes and failures — when one side knows more than the other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617720"/>
            <a:ext cx="10515600" cy="640080"/>
          </a:xfrm>
          <a:prstGeom prst="roundRect">
            <a:avLst>
              <a:gd name="adj" fmla="val 7143"/>
            </a:avLst>
          </a:prstGeom>
          <a:solidFill>
            <a:srgbClr val="223730"/>
          </a:solidFill>
          <a:ln w="12700">
            <a:solidFill>
              <a:srgbClr val="3E6B5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472744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DBC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MACRO UNIT 6  </a:t>
            </a:r>
            <a:pPr indent="0" marL="0">
              <a:buNone/>
            </a:pPr>
            <a:r>
              <a:rPr lang="en-US" sz="1400" dirty="0">
                <a:solidFill>
                  <a:srgbClr val="EE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financial sector: debt, money, and financial markets — the plumbing behind tonight's quote screen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897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books.core-econ.org/the-economy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Intro to the Stock Market</dc:creator>
  <cp:lastModifiedBy>Intro to the Stock Market</cp:lastModifiedBy>
  <cp:revision>1</cp:revision>
  <dcterms:created xsi:type="dcterms:W3CDTF">2026-10-01T18:56:46Z</dcterms:created>
  <dcterms:modified xsi:type="dcterms:W3CDTF">2026-10-01T18:56:46Z</dcterms:modified>
</cp:coreProperties>
</file>