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PRE-CHECK the evening before: open /screen, note the survivor count, hover one ✗ on a famous failure and reconcile it against /fundamentals/. Print /card — one per student (it's kit page two). Blank slips for the prediction exercise.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 min with the Wall. Keep the pace — tonight's centrepiece is the live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 min. Week 4 gave it one sentence; tonight it gets the whole idea. Write the bold sentence on the board — it frames the next 15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 min with the printed card in hand. Each test's italic 'why' line is the kitchen-table version — use it, not the formula. The card prints from the same rules the screen runs; it cannot disagree with the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adaptations are a lesson in their own right — data literacy. Graham's own principle survives each one: the intent is kept, the window is shorter, and the card says so. If asked about the 9%: Graham's three-year averages sit seven years apart, so a stricter reading would be +13%; we chose 9% and recorded why (decision log #11).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Collect or have them keep the slips folded — opened after the reveal.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 min. Hover a ✗ to show its numbers live. Banks show – on test 2 and score out of 6 (Graham's rule); negative book value shows ✗ on test 7. If ZERO survive, that is the lesson: two defensible readings — the market is expensive, or the tests are dated. Board both; pick neither. Graham himself got 5 of 30 in 1970.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it aloud, slowly, after the reveal. Then the 1970 result (course copy p. 354): American Can, AT&amp;T, Anaconda, Swift, Woolworth were the five survivors. Anaconda's Chilean mines were expropriated in 1971; Woolworth declined for decades. Few survivors — and a survivor is not a guarantee. It sets up the argument that follows.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 min. If nothing survives (the first live run, 13 Oct 2026, had no survivors and no near misses), pairs take the highest scorers instead — on that run Nvidia at 5/7, failing only the two price tests — plus a household-name failure: a tech giant, a carmaker, an aircraft maker, a bank. The ready-made material is the eight-company table in docs/lessons/week-05-reading-the-screen.md (point 4). Hand them the modern frictions on the next slide when they get stuck.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arguments FOR the failure being the test's fault. The counter-argument: Graham would say a defensive investor shouldn't need to make that case — that's precisely the risk he's avoiding.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 min. Zweig p. 375: read five years of reports; if you won't, get into an index fund 'where you belong'. His 90/10 compromise (p. 367): 90% index fund, 10% own picks — the book's view, not the course's advice, but it belongs in the room. 'Should I buy the survivors?' — scripted: a survivor has earned a READING, not a purchase. Week 6 shows why a story isn't enough; week 8 shows how much you'd ever put in. Park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pre-mortem is the most useful habit in the course — imagining failure before committing. Close with the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Optional, never assigned, never examined.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82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1908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B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Education, not advice.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0515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B7C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INTRO TO THE STOCK MARKET  ·  PHASE 2: VALUE, THE GRAHAM WAY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783080"/>
            <a:ext cx="10789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EEF2E9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The Graham checklist</a:t>
            </a:r>
            <a:endParaRPr lang="en-US" sz="62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56616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i="1" dirty="0">
                <a:solidFill>
                  <a:srgbClr val="9DBCA9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Seven tests from Graham's 1972 revision, one idea underneath them — and the evening we argue with a dead man's checklist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 rot="-240000">
            <a:off x="10149840" y="640080"/>
            <a:ext cx="1371600" cy="384048"/>
          </a:xfrm>
          <a:prstGeom prst="rect">
            <a:avLst/>
          </a:prstGeom>
          <a:noFill/>
          <a:ln w="19050">
            <a:solidFill>
              <a:srgbClr val="B4382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B438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WK 5 / 12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59893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 grade decisions, not outcomes.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E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1908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Education, not advice.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E6B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0:00 — HARVEST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86868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8262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Where did Mr. Market turn up this week?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822960" y="2103120"/>
            <a:ext cx="3300984" cy="256032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12700">
            <a:solidFill>
              <a:srgbClr val="B7C6D4"/>
            </a:solidFill>
            <a:prstDash val="solid"/>
          </a:ln>
          <a:effectLst>
            <a:outerShdw sx="100000" sy="100000" kx="0" ky="0" algn="bl" rotWithShape="0" blurRad="76200" dist="25400" dir="5400000">
              <a:srgbClr val="182620">
                <a:alpha val="1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1051560" y="2286000"/>
            <a:ext cx="2843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E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8, read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852928"/>
            <a:ext cx="284378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28"/>
              </a:lnSpc>
              <a:buNone/>
            </a:pPr>
            <a:r>
              <a:rPr lang="en-US" sz="1350" dirty="0">
                <a:solidFill>
                  <a:srgbClr val="18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line each: what stuck from Graham's manic partner — and from Zweig's commentary?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443984" y="2103120"/>
            <a:ext cx="3300984" cy="256032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12700">
            <a:solidFill>
              <a:srgbClr val="B7C6D4"/>
            </a:solidFill>
            <a:prstDash val="solid"/>
          </a:ln>
          <a:effectLst>
            <a:outerShdw sx="100000" sy="100000" kx="0" ky="0" algn="bl" rotWithShape="0" blurRad="76200" dist="25400" dir="5400000">
              <a:srgbClr val="182620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672584" y="2286000"/>
            <a:ext cx="2843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E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Caught in the wild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4672584" y="2852928"/>
            <a:ext cx="284378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28"/>
              </a:lnSpc>
              <a:buNone/>
            </a:pPr>
            <a:r>
              <a:rPr lang="en-US" sz="1350" dirty="0">
                <a:solidFill>
                  <a:srgbClr val="18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Notifications, red flashes, urgent headlines. Best screenshot gets pinned beside the Wall of Resulting.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8065008" y="2103120"/>
            <a:ext cx="3300984" cy="256032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12700">
            <a:solidFill>
              <a:srgbClr val="B7C6D4"/>
            </a:solidFill>
            <a:prstDash val="solid"/>
          </a:ln>
          <a:effectLst>
            <a:outerShdw sx="100000" sy="100000" kx="0" ky="0" algn="bl" rotWithShape="0" blurRad="76200" dist="25400" dir="5400000">
              <a:srgbClr val="182620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8293608" y="2286000"/>
            <a:ext cx="2843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E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Books-page surprise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8293608" y="2852928"/>
            <a:ext cx="284378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28"/>
              </a:lnSpc>
              <a:buNone/>
            </a:pPr>
            <a:r>
              <a:rPr lang="en-US" sz="1350" dirty="0">
                <a:solidFill>
                  <a:srgbClr val="18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number per table that surprised you on your company's books — and what it asked.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1908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Education, not advice.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E6B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0:10 — THE IDEA UNDER EVERYTHING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86868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8262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Margin of safety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822960" y="2011680"/>
            <a:ext cx="4937760" cy="2926080"/>
          </a:xfrm>
          <a:prstGeom prst="roundRect">
            <a:avLst>
              <a:gd name="adj" fmla="val 1875"/>
            </a:avLst>
          </a:prstGeom>
          <a:solidFill>
            <a:srgbClr val="FFFFFF"/>
          </a:solidFill>
          <a:ln w="12700">
            <a:solidFill>
              <a:srgbClr val="B7C6D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219456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E6B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BRIDGE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651760"/>
            <a:ext cx="4480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18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Rated for </a:t>
            </a:r>
            <a:pPr indent="0" marL="0">
              <a:lnSpc>
                <a:spcPts val="2600"/>
              </a:lnSpc>
              <a:buNone/>
            </a:pPr>
            <a:r>
              <a:rPr lang="en-US" sz="1800" b="1" dirty="0">
                <a:solidFill>
                  <a:srgbClr val="18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tonnes</a:t>
            </a:r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18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18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Carries </a:t>
            </a: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800" b="1" dirty="0">
                <a:solidFill>
                  <a:srgbClr val="18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10-tonne</a:t>
            </a:r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18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lorries.</a:t>
            </a: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18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knows the true load — so the gap is built in.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309360" y="2011680"/>
            <a:ext cx="5029200" cy="2926080"/>
          </a:xfrm>
          <a:prstGeom prst="roundRect">
            <a:avLst>
              <a:gd name="adj" fmla="val 1875"/>
            </a:avLst>
          </a:prstGeom>
          <a:solidFill>
            <a:srgbClr val="DCE8DF"/>
          </a:solidFill>
          <a:ln w="19050">
            <a:solidFill>
              <a:srgbClr val="3E6B5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37960" y="21945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E6B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INVESTMENT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537960" y="2651760"/>
            <a:ext cx="4572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18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between what you pay and what the business is worth.</a:t>
            </a: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18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there because you will sometimes be wrong.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53035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i="1" dirty="0">
                <a:solidFill>
                  <a:srgbClr val="3E6B5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Every test on tonight's card is a different way of building in that gap.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4206240" y="641908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Intelligent Investor ch. 20 — course copy p. 512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E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1908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Education, not advice.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E6B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0:20 — WALK THE CARD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86868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8262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Seven tests, seven questions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822960" y="1965960"/>
            <a:ext cx="251460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B7C6D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05840" y="210312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E6B5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1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22402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283464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8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enough to survive a bad year?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520440" y="1965960"/>
            <a:ext cx="251460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B7C6D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703320" y="210312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E6B5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2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4297680" y="22402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703320" y="283464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8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Pays its bills; mortgage smaller than the cushion?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17920" y="1965960"/>
            <a:ext cx="251460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B7C6D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0" y="210312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E6B5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3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6995160" y="22402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Stability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0" y="283464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8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lost money?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915400" y="1965960"/>
            <a:ext cx="251460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B7C6D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098280" y="210312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E6B5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4</a:t>
            </a:r>
            <a:endParaRPr lang="en-US" sz="3000" dirty="0"/>
          </a:p>
        </p:txBody>
      </p:sp>
      <p:sp>
        <p:nvSpPr>
          <p:cNvPr id="19" name="Text 17"/>
          <p:cNvSpPr txBox="1"/>
          <p:nvPr/>
        </p:nvSpPr>
        <p:spPr>
          <a:xfrm>
            <a:off x="9692640" y="22402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Dividends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9098280" y="283464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8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Handed over real cash for a decade?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822960" y="3977640"/>
            <a:ext cx="251460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B7C6D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05840" y="411480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E6B5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5</a:t>
            </a:r>
            <a:endParaRPr lang="en-US" sz="3000" dirty="0"/>
          </a:p>
        </p:txBody>
      </p:sp>
      <p:sp>
        <p:nvSpPr>
          <p:cNvPr id="23" name="Text 21"/>
          <p:cNvSpPr txBox="1"/>
          <p:nvPr/>
        </p:nvSpPr>
        <p:spPr>
          <a:xfrm>
            <a:off x="1600200" y="425196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1005840" y="484632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8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Modest growth that actually happened?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3520440" y="3977640"/>
            <a:ext cx="251460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B7C6D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703320" y="411480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E6B5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6</a:t>
            </a:r>
            <a:endParaRPr lang="en-US" sz="3000" dirty="0"/>
          </a:p>
        </p:txBody>
      </p:sp>
      <p:sp>
        <p:nvSpPr>
          <p:cNvPr id="27" name="Text 25"/>
          <p:cNvSpPr txBox="1"/>
          <p:nvPr/>
        </p:nvSpPr>
        <p:spPr>
          <a:xfrm>
            <a:off x="4297680" y="425196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P/E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3703320" y="484632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8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paying many years of profit up front?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217920" y="3977640"/>
            <a:ext cx="251460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B7C6D4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400800" y="411480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E6B5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7</a:t>
            </a:r>
            <a:endParaRPr lang="en-US" sz="3000" dirty="0"/>
          </a:p>
        </p:txBody>
      </p:sp>
      <p:sp>
        <p:nvSpPr>
          <p:cNvPr id="31" name="Text 29"/>
          <p:cNvSpPr txBox="1"/>
          <p:nvPr/>
        </p:nvSpPr>
        <p:spPr>
          <a:xfrm>
            <a:off x="6995160" y="425196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P/B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6400800" y="484632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8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solid behind the price?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8915400" y="3977640"/>
            <a:ext cx="2514600" cy="1828800"/>
          </a:xfrm>
          <a:prstGeom prst="roundRect">
            <a:avLst>
              <a:gd name="adj" fmla="val 3000"/>
            </a:avLst>
          </a:prstGeom>
          <a:solidFill>
            <a:srgbClr val="F3E4E2"/>
          </a:solidFill>
          <a:ln w="19050">
            <a:solidFill>
              <a:srgbClr val="B4382E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9098280" y="4114800"/>
            <a:ext cx="2148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B43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seven must pass.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B43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pass earns a reading — not a purchase.</a:t>
            </a:r>
            <a:endParaRPr lang="en-US" sz="1350" dirty="0"/>
          </a:p>
        </p:txBody>
      </p:sp>
      <p:sp>
        <p:nvSpPr>
          <p:cNvPr id="35" name="Text 33"/>
          <p:cNvSpPr txBox="1"/>
          <p:nvPr/>
        </p:nvSpPr>
        <p:spPr>
          <a:xfrm>
            <a:off x="4206240" y="641908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Intelligent Investor ch. 14 — course copy p. 347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1908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Education, not advice.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E6B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FOUR RED STAMPS ON THE CARD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86868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8262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Adapted — and saying so out loud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 rot="-240000">
            <a:off x="10058400" y="594360"/>
            <a:ext cx="1463040" cy="384048"/>
          </a:xfrm>
          <a:prstGeom prst="rect">
            <a:avLst/>
          </a:prstGeom>
          <a:noFill/>
          <a:ln w="19050">
            <a:solidFill>
              <a:srgbClr val="B4382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B438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ADAPTED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965960"/>
          <a:ext cx="10515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834640"/>
                <a:gridCol w="2377440"/>
                <a:gridCol w="292608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Test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6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Graham asked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6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Free data holds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6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We ask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62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6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· Stability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6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years of earnings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6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years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6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years, all positive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6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· Dividends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6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years unbroken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6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~15 years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6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years unbroken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6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· Size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6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$100m sales (1971 $)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6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6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$800m (×~8 inflation)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6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· Growth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6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+⅓ over 10 years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6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years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6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 — pro-rated to our window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4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822960" y="50749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800" i="1" dirty="0">
                <a:solidFill>
                  <a:srgbClr val="3E6B5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Honest data use means saying where your data runs short. A tip-seller's spreadsheet never tells you where its numbers ran out.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1908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Education, not advice.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E6B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0:35 — BEFORE ANYONE SEES THE SCREEN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86868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8262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Predict first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 rot="-240000">
            <a:off x="9326880" y="594360"/>
            <a:ext cx="2194560" cy="384048"/>
          </a:xfrm>
          <a:prstGeom prst="rect">
            <a:avLst/>
          </a:prstGeom>
          <a:noFill/>
          <a:ln w="19050">
            <a:solidFill>
              <a:srgbClr val="B4382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B438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JOURNAL FIRST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103120"/>
            <a:ext cx="10424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400" b="1" dirty="0">
                <a:solidFill>
                  <a:srgbClr val="18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your slip: </a:t>
            </a:r>
            <a:pPr indent="0" marL="0">
              <a:lnSpc>
                <a:spcPts val="3400"/>
              </a:lnSpc>
              <a:buNone/>
            </a:pPr>
            <a:r>
              <a:rPr lang="en-US" sz="2400" dirty="0">
                <a:solidFill>
                  <a:srgbClr val="18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three companies in our universe will pass all seven tests?
</a:t>
            </a:r>
            <a:pPr indent="0" marL="0">
              <a:lnSpc>
                <a:spcPts val="3400"/>
              </a:lnSpc>
              <a:buNone/>
            </a:pPr>
            <a:r>
              <a:rPr lang="en-US" sz="2400" b="1" dirty="0">
                <a:solidFill>
                  <a:srgbClr val="3E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Name. Date. Fold it.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75488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6B7A72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 decision written down before the outcome — the only kind we can grade.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82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1908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B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Education, not advice.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B7C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0:40 — LIVE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2801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EF2E9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Run the screen</a:t>
            </a:r>
            <a:endParaRPr lang="en-US" sz="4600" dirty="0"/>
          </a:p>
        </p:txBody>
      </p:sp>
      <p:sp>
        <p:nvSpPr>
          <p:cNvPr id="5" name="Shape 3"/>
          <p:cNvSpPr/>
          <p:nvPr/>
        </p:nvSpPr>
        <p:spPr>
          <a:xfrm>
            <a:off x="822960" y="2514600"/>
            <a:ext cx="10515600" cy="914400"/>
          </a:xfrm>
          <a:prstGeom prst="roundRect">
            <a:avLst>
              <a:gd name="adj" fmla="val 6000"/>
            </a:avLst>
          </a:prstGeom>
          <a:solidFill>
            <a:srgbClr val="223730"/>
          </a:solidFill>
          <a:ln w="19050">
            <a:solidFill>
              <a:srgbClr val="3E6B5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26974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EF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your course URL ]/screen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794760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900" dirty="0">
                <a:solidFill>
                  <a:srgbClr val="C9D6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Tally boxes → survivors → near misses → open the slips.
</a:t>
            </a:r>
            <a:pPr indent="0" marL="0">
              <a:lnSpc>
                <a:spcPts val="2800"/>
              </a:lnSpc>
              <a:buNone/>
            </a:pPr>
            <a:r>
              <a:rPr lang="en-US" sz="1900" b="1" dirty="0">
                <a:solidFill>
                  <a:srgbClr val="EE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 very few survivors. </a:t>
            </a:r>
            <a:pPr indent="0" marL="0">
              <a:lnSpc>
                <a:spcPts val="2800"/>
              </a:lnSpc>
              <a:buNone/>
            </a:pPr>
            <a:r>
              <a:rPr lang="en-US" sz="1900" dirty="0">
                <a:solidFill>
                  <a:srgbClr val="C9D6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Graham built these tests to reject — and a universe of famous giants is where they bite hardest.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54864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9DBCA9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Every ✓ and ✗ can be explained from the books page. That is the standard.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1908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Education, not advice.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097280" y="1737360"/>
            <a:ext cx="99669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3600" b="1" i="1" dirty="0">
                <a:solidFill>
                  <a:srgbClr val="18262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“Many shall be restored that now are fallen, and many shall fall that now are in honor.”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4480560"/>
            <a:ext cx="9966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Horace, Ars Poetica — the epigraph Graham &amp; Dodd chose for Security Analysis.</a:t>
            </a:r>
            <a:endParaRPr lang="en-US" sz="16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Graham's own screen passed just 5 of the 30 Dow stocks in 1970 — and two of the five, Anaconda and Woolworth, went badly within years. Passing earns a reading, not safety.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641908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Analysis (1940 ed.), epigraph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1908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Education, not advice.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E6B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0:55 — PAIRS: THE CLOSEST, AND ONE FAMOUS FAILURE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86868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8262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Argue with the checklist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822960" y="2057400"/>
            <a:ext cx="3300984" cy="26517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12700">
            <a:solidFill>
              <a:srgbClr val="B7C6D4"/>
            </a:solidFill>
            <a:prstDash val="solid"/>
          </a:ln>
          <a:effectLst>
            <a:outerShdw sx="100000" sy="100000" kx="0" ky="0" algn="bl" rotWithShape="0" blurRad="76200" dist="25400" dir="5400000">
              <a:srgbClr val="182620">
                <a:alpha val="1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1051560" y="2240280"/>
            <a:ext cx="2843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E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Which tests failed?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807208"/>
            <a:ext cx="284378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28"/>
              </a:lnSpc>
              <a:buNone/>
            </a:pPr>
            <a:r>
              <a:rPr lang="en-US" sz="1350" dirty="0">
                <a:solidFill>
                  <a:srgbClr val="18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plain words. Read the numbers off the hover detail, then the company's books page.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443984" y="2057400"/>
            <a:ext cx="3300984" cy="26517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12700">
            <a:solidFill>
              <a:srgbClr val="B7C6D4"/>
            </a:solidFill>
            <a:prstDash val="solid"/>
          </a:ln>
          <a:effectLst>
            <a:outerShdw sx="100000" sy="100000" kx="0" ky="0" algn="bl" rotWithShape="0" blurRad="76200" dist="25400" dir="5400000">
              <a:srgbClr val="182620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672584" y="2240280"/>
            <a:ext cx="2843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E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Right, or out of date?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4672584" y="2807208"/>
            <a:ext cx="284378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28"/>
              </a:lnSpc>
              <a:buNone/>
            </a:pPr>
            <a:r>
              <a:rPr lang="en-US" sz="1350" dirty="0">
                <a:solidFill>
                  <a:srgbClr val="18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test fair to this company in 2026 — or a 1972 rule meeting a business Graham never saw?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8065008" y="2057400"/>
            <a:ext cx="3300984" cy="26517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12700">
            <a:solidFill>
              <a:srgbClr val="B7C6D4"/>
            </a:solidFill>
            <a:prstDash val="solid"/>
          </a:ln>
          <a:effectLst>
            <a:outerShdw sx="100000" sy="100000" kx="0" ky="0" algn="bl" rotWithShape="0" blurRad="76200" dist="25400" dir="5400000">
              <a:srgbClr val="182620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8293608" y="2240280"/>
            <a:ext cx="2843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43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Bad, or just not defensive?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8293608" y="2807208"/>
            <a:ext cx="284378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28"/>
              </a:lnSpc>
              <a:buNone/>
            </a:pPr>
            <a:r>
              <a:rPr lang="en-US" sz="1350" dirty="0">
                <a:solidFill>
                  <a:srgbClr val="18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failing make it a bad investment — or simply not one for the defensive investor?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8920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3E6B5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Each pair takes the best scorer on the screen — a survivor, a near miss, or if none, the highest score — plus one famous failure. One sentence per pair; the course takes no side.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E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1908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Education, not advice.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E6B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 THEY GET STUCK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86868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8262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Three modern frictions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822960" y="2057400"/>
            <a:ext cx="3300984" cy="27432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B7C6D4"/>
            </a:solidFill>
            <a:prstDash val="solid"/>
          </a:ln>
          <a:effectLst>
            <a:outerShdw sx="100000" sy="100000" kx="0" ky="0" algn="bl" rotWithShape="0" blurRad="76200" dist="25400" dir="5400000">
              <a:srgbClr val="182620">
                <a:alpha val="1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1051560" y="2240280"/>
            <a:ext cx="2843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E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Buybacks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807208"/>
            <a:ext cx="284378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28"/>
              </a:lnSpc>
              <a:buNone/>
            </a:pPr>
            <a:r>
              <a:rPr lang="en-US" sz="1350" dirty="0">
                <a:solidFill>
                  <a:srgbClr val="18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company buying back its own shares shrinks book equity — so P/B balloons even when nothing is wrong.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443984" y="2057400"/>
            <a:ext cx="3300984" cy="27432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B7C6D4"/>
            </a:solidFill>
            <a:prstDash val="solid"/>
          </a:ln>
          <a:effectLst>
            <a:outerShdw sx="100000" sy="100000" kx="0" ky="0" algn="bl" rotWithShape="0" blurRad="76200" dist="25400" dir="5400000">
              <a:srgbClr val="182620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672584" y="2240280"/>
            <a:ext cx="2843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E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Intangibles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4672584" y="2807208"/>
            <a:ext cx="284378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28"/>
              </a:lnSpc>
              <a:buNone/>
            </a:pPr>
            <a:r>
              <a:rPr lang="en-US" sz="1350" dirty="0">
                <a:solidFill>
                  <a:srgbClr val="18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Brands, software, patents barely appear on the balance sheet — Zweig says so himself (p. 374). Book value misses much of what a modern firm owns.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8065008" y="2057400"/>
            <a:ext cx="3300984" cy="27432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B7C6D4"/>
            </a:solidFill>
            <a:prstDash val="solid"/>
          </a:ln>
          <a:effectLst>
            <a:outerShdw sx="100000" sy="100000" kx="0" ky="0" algn="bl" rotWithShape="0" blurRad="76200" dist="25400" dir="5400000">
              <a:srgbClr val="182620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8293608" y="2240280"/>
            <a:ext cx="2843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Banks show “–”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8293608" y="2807208"/>
            <a:ext cx="284378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28"/>
              </a:lnSpc>
              <a:buNone/>
            </a:pPr>
            <a:r>
              <a:rPr lang="en-US" sz="1350" dirty="0">
                <a:solidFill>
                  <a:srgbClr val="18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Graham's strength test is written for industrial companies; for banks he applied only the price tests. So test 2 is skipped, not failed — and they're scored out of six.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4206240" y="641908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deeper, free: CORE, The Economy 2.0 — Micro Unit 7, 'The firm and its customers'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E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1908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Education, not advice.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E6B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1:15 — THE LIMITS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86868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8262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What no screen can tell you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822960" y="2057400"/>
            <a:ext cx="2395728" cy="219456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B7C6D4"/>
            </a:solidFill>
            <a:prstDash val="solid"/>
          </a:ln>
          <a:effectLst>
            <a:outerShdw sx="100000" sy="100000" kx="0" ky="0" algn="bl" rotWithShape="0" blurRad="76200" dist="25400" dir="5400000">
              <a:srgbClr val="182620">
                <a:alpha val="1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1051560" y="2240280"/>
            <a:ext cx="19385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E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807208"/>
            <a:ext cx="19385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92"/>
              </a:lnSpc>
              <a:buNone/>
            </a:pPr>
            <a:r>
              <a:rPr lang="en-US" sz="1400" dirty="0">
                <a:solidFill>
                  <a:srgbClr val="18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the people running it be trusted with your money?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538728" y="2057400"/>
            <a:ext cx="2395728" cy="219456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B7C6D4"/>
            </a:solidFill>
            <a:prstDash val="solid"/>
          </a:ln>
          <a:effectLst>
            <a:outerShdw sx="100000" sy="100000" kx="0" ky="0" algn="bl" rotWithShape="0" blurRad="76200" dist="25400" dir="5400000">
              <a:srgbClr val="182620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767328" y="2240280"/>
            <a:ext cx="19385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E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moat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3767328" y="2807208"/>
            <a:ext cx="19385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92"/>
              </a:lnSpc>
              <a:buNone/>
            </a:pPr>
            <a:r>
              <a:rPr lang="en-US" sz="1400" dirty="0">
                <a:solidFill>
                  <a:srgbClr val="18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competitors take its profits away?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54496" y="2057400"/>
            <a:ext cx="2395728" cy="219456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B7C6D4"/>
            </a:solidFill>
            <a:prstDash val="solid"/>
          </a:ln>
          <a:effectLst>
            <a:outerShdw sx="100000" sy="100000" kx="0" ky="0" algn="bl" rotWithShape="0" blurRad="76200" dist="25400" dir="5400000">
              <a:srgbClr val="182620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483096" y="2240280"/>
            <a:ext cx="19385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E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6483096" y="2807208"/>
            <a:ext cx="19385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92"/>
              </a:lnSpc>
              <a:buNone/>
            </a:pPr>
            <a:r>
              <a:rPr lang="en-US" sz="1400" dirty="0">
                <a:solidFill>
                  <a:srgbClr val="18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on the screen is history.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970264" y="2057400"/>
            <a:ext cx="2395728" cy="219456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B7C6D4"/>
            </a:solidFill>
            <a:prstDash val="solid"/>
          </a:ln>
          <a:effectLst>
            <a:outerShdw sx="100000" sy="100000" kx="0" ky="0" algn="bl" rotWithShape="0" blurRad="76200" dist="25400" dir="5400000">
              <a:srgbClr val="182620">
                <a:alpha val="1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9198864" y="2240280"/>
            <a:ext cx="19385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E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9198864" y="2807208"/>
            <a:ext cx="19385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92"/>
              </a:lnSpc>
              <a:buNone/>
            </a:pPr>
            <a:r>
              <a:rPr lang="en-US" sz="1400" dirty="0">
                <a:solidFill>
                  <a:srgbClr val="18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screen shows what. Never why.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452628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800" i="1" dirty="0">
                <a:solidFill>
                  <a:srgbClr val="3E6B5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The screen narrows the list. Reading decides. Zweig's rule: read at least five years of the company's own reports — the books page — or, in his words, you're "too defensive to be buying individual stocks at all."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E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1908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Education, not advice.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E6B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1:25 — HOMEWORK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86868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8262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Read, pre-mortem, keep the card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822960" y="2103120"/>
            <a:ext cx="3300984" cy="256032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12700">
            <a:solidFill>
              <a:srgbClr val="B7C6D4"/>
            </a:solidFill>
            <a:prstDash val="solid"/>
          </a:ln>
          <a:effectLst>
            <a:outerShdw sx="100000" sy="100000" kx="0" ky="0" algn="bl" rotWithShape="0" blurRad="76200" dist="25400" dir="5400000">
              <a:srgbClr val="182620">
                <a:alpha val="1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1051560" y="2286000"/>
            <a:ext cx="2843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E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Read chapter 14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852928"/>
            <a:ext cx="284378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28"/>
              </a:lnSpc>
              <a:buNone/>
            </a:pPr>
            <a:r>
              <a:rPr lang="en-US" sz="1350" dirty="0">
                <a:solidFill>
                  <a:srgbClr val="18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Graham's text and Zweig's commentary — p. 347 and p. 367 in the course copy.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443984" y="2103120"/>
            <a:ext cx="3300984" cy="256032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12700">
            <a:solidFill>
              <a:srgbClr val="B7C6D4"/>
            </a:solidFill>
            <a:prstDash val="solid"/>
          </a:ln>
          <a:effectLst>
            <a:outerShdw sx="100000" sy="100000" kx="0" ky="0" algn="bl" rotWithShape="0" blurRad="76200" dist="25400" dir="5400000">
              <a:srgbClr val="182620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672584" y="2286000"/>
            <a:ext cx="2843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E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A pre-mortem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4672584" y="2852928"/>
            <a:ext cx="284378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28"/>
              </a:lnSpc>
              <a:buNone/>
            </a:pPr>
            <a:r>
              <a:rPr lang="en-US" sz="1350" dirty="0">
                <a:solidFill>
                  <a:srgbClr val="18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one survivor or near miss. “It's three years from now and this went badly. What most likely happened?”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8065008" y="2103120"/>
            <a:ext cx="3300984" cy="256032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12700">
            <a:solidFill>
              <a:srgbClr val="B7C6D4"/>
            </a:solidFill>
            <a:prstDash val="solid"/>
          </a:ln>
          <a:effectLst>
            <a:outerShdw sx="100000" sy="100000" kx="0" ky="0" algn="bl" rotWithShape="0" blurRad="76200" dist="25400" dir="5400000">
              <a:srgbClr val="182620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8293608" y="2286000"/>
            <a:ext cx="2843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E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Keep the card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8293608" y="2852928"/>
            <a:ext cx="284378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28"/>
              </a:lnSpc>
              <a:buNone/>
            </a:pPr>
            <a:r>
              <a:rPr lang="en-US" sz="1350" dirty="0">
                <a:solidFill>
                  <a:srgbClr val="18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two of your takeaway kit. It prints from the same rules the screen runs.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50749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i="1" dirty="0">
                <a:solidFill>
                  <a:srgbClr val="3E6B5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“We grade decisions, not outcomes.”</a:t>
            </a:r>
            <a:endParaRPr lang="en-US" sz="2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82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1908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B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Education, not advice.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B7C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 DEEPER — FREE, FOREVER, OPTIONAL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23444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EF2E9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The Economy 2.0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24028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free university text, tracking tonight's ideas: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22960" y="2926080"/>
            <a:ext cx="10515600" cy="640080"/>
          </a:xfrm>
          <a:prstGeom prst="roundRect">
            <a:avLst>
              <a:gd name="adj" fmla="val 7143"/>
            </a:avLst>
          </a:prstGeom>
          <a:solidFill>
            <a:srgbClr val="223730"/>
          </a:solidFill>
          <a:ln w="12700">
            <a:solidFill>
              <a:srgbClr val="3E6B5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3035808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DBCA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MICRO UNIT 7  </a:t>
            </a:r>
            <a:pPr indent="0" marL="0">
              <a:buNone/>
            </a:pPr>
            <a:r>
              <a:rPr lang="en-US" sz="1400" dirty="0">
                <a:solidFill>
                  <a:srgbClr val="EE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firm and its customers — what lets a business keep its profits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22960" y="3703320"/>
            <a:ext cx="10515600" cy="640080"/>
          </a:xfrm>
          <a:prstGeom prst="roundRect">
            <a:avLst>
              <a:gd name="adj" fmla="val 7143"/>
            </a:avLst>
          </a:prstGeom>
          <a:solidFill>
            <a:srgbClr val="223730"/>
          </a:solidFill>
          <a:ln w="12700">
            <a:solidFill>
              <a:srgbClr val="3E6B5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51560" y="3813048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DBCA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MICRO UNIT 10  </a:t>
            </a:r>
            <a:pPr indent="0" marL="0">
              <a:buNone/>
            </a:pPr>
            <a:r>
              <a:rPr lang="en-US" sz="1400" dirty="0">
                <a:solidFill>
                  <a:srgbClr val="EE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successes and failures — why price and value can drift apart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22960" y="4480560"/>
            <a:ext cx="10515600" cy="640080"/>
          </a:xfrm>
          <a:prstGeom prst="roundRect">
            <a:avLst>
              <a:gd name="adj" fmla="val 7143"/>
            </a:avLst>
          </a:prstGeom>
          <a:solidFill>
            <a:srgbClr val="223730"/>
          </a:solidFill>
          <a:ln w="12700">
            <a:solidFill>
              <a:srgbClr val="3E6B5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4590288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DBCA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MACRO UNIT 6  </a:t>
            </a:r>
            <a:pPr indent="0" marL="0">
              <a:buNone/>
            </a:pPr>
            <a:r>
              <a:rPr lang="en-US" sz="1400" dirty="0">
                <a:solidFill>
                  <a:srgbClr val="EE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financial sector — why banks need different tests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57607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EF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books.core-econ.org/the-economy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Intro to the Stock Market</dc:creator>
  <cp:lastModifiedBy>Intro to the Stock Market</cp:lastModifiedBy>
  <cp:revision>1</cp:revision>
  <dcterms:created xsi:type="dcterms:W3CDTF">2026-10-23T15:35:07Z</dcterms:created>
  <dcterms:modified xsi:type="dcterms:W3CDTF">2026-10-23T15:35:07Z</dcterms:modified>
</cp:coreProperties>
</file>