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 months</c:v>
                </c:pt>
              </c:strCache>
            </c:strRef>
          </c:tx>
          <c:spPr>
            <a:ln w="25400" cap="flat">
              <a:solidFill>
                <a:srgbClr val="3E6B54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Sheet1!$A$2:$A$64</c:f>
              <c:strCache>
                <c:ptCount val="63"/>
              </c:strCache>
            </c:strRef>
          </c:cat>
          <c:val>
            <c:numRef>
              <c:f>Sheet1!$B$2:$B$64</c:f>
              <c:numCache>
                <c:formatCode>General</c:formatCode>
                <c:ptCount val="63"/>
                <c:pt idx="0">
                  <c:v>122.54</c:v>
                </c:pt>
                <c:pt idx="1">
                  <c:v>122.83</c:v>
                </c:pt>
                <c:pt idx="2">
                  <c:v>123.38</c:v>
                </c:pt>
                <c:pt idx="3">
                  <c:v>124.2</c:v>
                </c:pt>
                <c:pt idx="4">
                  <c:v>125.28</c:v>
                </c:pt>
                <c:pt idx="5">
                  <c:v>124.85</c:v>
                </c:pt>
                <c:pt idx="6">
                  <c:v>124.68</c:v>
                </c:pt>
                <c:pt idx="7">
                  <c:v>124.78</c:v>
                </c:pt>
                <c:pt idx="8">
                  <c:v>125.14</c:v>
                </c:pt>
                <c:pt idx="9">
                  <c:v>125.77</c:v>
                </c:pt>
                <c:pt idx="10">
                  <c:v>126.66</c:v>
                </c:pt>
                <c:pt idx="11">
                  <c:v>126.02</c:v>
                </c:pt>
                <c:pt idx="12">
                  <c:v>125.64</c:v>
                </c:pt>
                <c:pt idx="13">
                  <c:v>125.53</c:v>
                </c:pt>
                <c:pt idx="14">
                  <c:v>125.69</c:v>
                </c:pt>
                <c:pt idx="15">
                  <c:v>126.11</c:v>
                </c:pt>
                <c:pt idx="16">
                  <c:v>126.79</c:v>
                </c:pt>
                <c:pt idx="17">
                  <c:v>127.75</c:v>
                </c:pt>
                <c:pt idx="18">
                  <c:v>127.15</c:v>
                </c:pt>
                <c:pt idx="19">
                  <c:v>126.82</c:v>
                </c:pt>
                <c:pt idx="20">
                  <c:v>126.76</c:v>
                </c:pt>
                <c:pt idx="21">
                  <c:v>126.97</c:v>
                </c:pt>
                <c:pt idx="22">
                  <c:v>127.44</c:v>
                </c:pt>
                <c:pt idx="23">
                  <c:v>128.18</c:v>
                </c:pt>
                <c:pt idx="24">
                  <c:v>127.37</c:v>
                </c:pt>
                <c:pt idx="25">
                  <c:v>126.82</c:v>
                </c:pt>
                <c:pt idx="26">
                  <c:v>126.55</c:v>
                </c:pt>
                <c:pt idx="27">
                  <c:v>126.54</c:v>
                </c:pt>
                <c:pt idx="28">
                  <c:v>126.79</c:v>
                </c:pt>
                <c:pt idx="29">
                  <c:v>127.32</c:v>
                </c:pt>
                <c:pt idx="30">
                  <c:v>128.11000000000001</c:v>
                </c:pt>
                <c:pt idx="31">
                  <c:v>127.35</c:v>
                </c:pt>
                <c:pt idx="32">
                  <c:v>126.86</c:v>
                </c:pt>
                <c:pt idx="33">
                  <c:v>126.64</c:v>
                </c:pt>
                <c:pt idx="34">
                  <c:v>126.69</c:v>
                </c:pt>
                <c:pt idx="35">
                  <c:v>127.01</c:v>
                </c:pt>
                <c:pt idx="36">
                  <c:v>127.6</c:v>
                </c:pt>
                <c:pt idx="37">
                  <c:v>126.64</c:v>
                </c:pt>
                <c:pt idx="38">
                  <c:v>125.95</c:v>
                </c:pt>
                <c:pt idx="39">
                  <c:v>125.54</c:v>
                </c:pt>
                <c:pt idx="40">
                  <c:v>125.39</c:v>
                </c:pt>
                <c:pt idx="41">
                  <c:v>125.52</c:v>
                </c:pt>
                <c:pt idx="42">
                  <c:v>125.91</c:v>
                </c:pt>
                <c:pt idx="43">
                  <c:v>126.57</c:v>
                </c:pt>
                <c:pt idx="44">
                  <c:v>125.7</c:v>
                </c:pt>
                <c:pt idx="45">
                  <c:v>125.11</c:v>
                </c:pt>
                <c:pt idx="46">
                  <c:v>124.78</c:v>
                </c:pt>
                <c:pt idx="47">
                  <c:v>124.73</c:v>
                </c:pt>
                <c:pt idx="48">
                  <c:v>124.95</c:v>
                </c:pt>
                <c:pt idx="49">
                  <c:v>125.44</c:v>
                </c:pt>
                <c:pt idx="50">
                  <c:v>124.41</c:v>
                </c:pt>
                <c:pt idx="51">
                  <c:v>123.66</c:v>
                </c:pt>
                <c:pt idx="52">
                  <c:v>123.18</c:v>
                </c:pt>
                <c:pt idx="53">
                  <c:v>122.97</c:v>
                </c:pt>
                <c:pt idx="54">
                  <c:v>123.04</c:v>
                </c:pt>
                <c:pt idx="55">
                  <c:v>123.37</c:v>
                </c:pt>
                <c:pt idx="56">
                  <c:v>123.98</c:v>
                </c:pt>
                <c:pt idx="57">
                  <c:v>123.09</c:v>
                </c:pt>
                <c:pt idx="58">
                  <c:v>122.47</c:v>
                </c:pt>
                <c:pt idx="59">
                  <c:v>122.13</c:v>
                </c:pt>
                <c:pt idx="60">
                  <c:v>122.07</c:v>
                </c:pt>
                <c:pt idx="61">
                  <c:v>122.27</c:v>
                </c:pt>
                <c:pt idx="62">
                  <c:v>122.75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345-4361-B868-FCF1592F1B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7E0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72"/>
                </a:solidFill>
                <a:latin typeface="Courier New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5 years</c:v>
                </c:pt>
              </c:strCache>
            </c:strRef>
          </c:tx>
          <c:spPr>
            <a:ln w="25400" cap="flat">
              <a:solidFill>
                <a:srgbClr val="3E6B54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Sheet1!$A$2:$A$261</c:f>
              <c:strCache>
                <c:ptCount val="260"/>
              </c:strCache>
            </c:strRef>
          </c:cat>
          <c:val>
            <c:numRef>
              <c:f>Sheet1!$B$2:$B$261</c:f>
              <c:numCache>
                <c:formatCode>General</c:formatCode>
                <c:ptCount val="260"/>
                <c:pt idx="0">
                  <c:v>99.41</c:v>
                </c:pt>
                <c:pt idx="1">
                  <c:v>99.04</c:v>
                </c:pt>
                <c:pt idx="2">
                  <c:v>98.91</c:v>
                </c:pt>
                <c:pt idx="3">
                  <c:v>99</c:v>
                </c:pt>
                <c:pt idx="4">
                  <c:v>99.33</c:v>
                </c:pt>
                <c:pt idx="5">
                  <c:v>99.88</c:v>
                </c:pt>
                <c:pt idx="6">
                  <c:v>100.66</c:v>
                </c:pt>
                <c:pt idx="7">
                  <c:v>100.24</c:v>
                </c:pt>
                <c:pt idx="8">
                  <c:v>100.06</c:v>
                </c:pt>
                <c:pt idx="9">
                  <c:v>100.1</c:v>
                </c:pt>
                <c:pt idx="10">
                  <c:v>100.38</c:v>
                </c:pt>
                <c:pt idx="11">
                  <c:v>100.88</c:v>
                </c:pt>
                <c:pt idx="12">
                  <c:v>101.62</c:v>
                </c:pt>
                <c:pt idx="13">
                  <c:v>101.14</c:v>
                </c:pt>
                <c:pt idx="14">
                  <c:v>100.9</c:v>
                </c:pt>
                <c:pt idx="15">
                  <c:v>100.88</c:v>
                </c:pt>
                <c:pt idx="16">
                  <c:v>101.1</c:v>
                </c:pt>
                <c:pt idx="17">
                  <c:v>101.55</c:v>
                </c:pt>
                <c:pt idx="18">
                  <c:v>102.23</c:v>
                </c:pt>
                <c:pt idx="19">
                  <c:v>103.15</c:v>
                </c:pt>
                <c:pt idx="20">
                  <c:v>102.83</c:v>
                </c:pt>
                <c:pt idx="21">
                  <c:v>102.75</c:v>
                </c:pt>
                <c:pt idx="22">
                  <c:v>102.9</c:v>
                </c:pt>
                <c:pt idx="23">
                  <c:v>103.28</c:v>
                </c:pt>
                <c:pt idx="24">
                  <c:v>103.9</c:v>
                </c:pt>
                <c:pt idx="25">
                  <c:v>104.75</c:v>
                </c:pt>
                <c:pt idx="26">
                  <c:v>104.35</c:v>
                </c:pt>
                <c:pt idx="27">
                  <c:v>104.19</c:v>
                </c:pt>
                <c:pt idx="28">
                  <c:v>104.25</c:v>
                </c:pt>
                <c:pt idx="29">
                  <c:v>104.55</c:v>
                </c:pt>
                <c:pt idx="30">
                  <c:v>105.09</c:v>
                </c:pt>
                <c:pt idx="31">
                  <c:v>105.86</c:v>
                </c:pt>
                <c:pt idx="32">
                  <c:v>106.87</c:v>
                </c:pt>
                <c:pt idx="33">
                  <c:v>106.6</c:v>
                </c:pt>
                <c:pt idx="34">
                  <c:v>106.56</c:v>
                </c:pt>
                <c:pt idx="35">
                  <c:v>106.76</c:v>
                </c:pt>
                <c:pt idx="36">
                  <c:v>107.2</c:v>
                </c:pt>
                <c:pt idx="37">
                  <c:v>107.88</c:v>
                </c:pt>
                <c:pt idx="38">
                  <c:v>108.79</c:v>
                </c:pt>
                <c:pt idx="39">
                  <c:v>108.4</c:v>
                </c:pt>
                <c:pt idx="40">
                  <c:v>108.24</c:v>
                </c:pt>
                <c:pt idx="41">
                  <c:v>108.32</c:v>
                </c:pt>
                <c:pt idx="42">
                  <c:v>108.63</c:v>
                </c:pt>
                <c:pt idx="43">
                  <c:v>109.19</c:v>
                </c:pt>
                <c:pt idx="44">
                  <c:v>109.98</c:v>
                </c:pt>
                <c:pt idx="45">
                  <c:v>111.02</c:v>
                </c:pt>
                <c:pt idx="46">
                  <c:v>110.71</c:v>
                </c:pt>
                <c:pt idx="47">
                  <c:v>110.65</c:v>
                </c:pt>
                <c:pt idx="48">
                  <c:v>110.83</c:v>
                </c:pt>
                <c:pt idx="49">
                  <c:v>111.24</c:v>
                </c:pt>
                <c:pt idx="50">
                  <c:v>111.89</c:v>
                </c:pt>
                <c:pt idx="51">
                  <c:v>112.79</c:v>
                </c:pt>
                <c:pt idx="52">
                  <c:v>112.32</c:v>
                </c:pt>
                <c:pt idx="53">
                  <c:v>112.1</c:v>
                </c:pt>
                <c:pt idx="54">
                  <c:v>112.11</c:v>
                </c:pt>
                <c:pt idx="55">
                  <c:v>112.36</c:v>
                </c:pt>
                <c:pt idx="56">
                  <c:v>112.85</c:v>
                </c:pt>
                <c:pt idx="57">
                  <c:v>113.59</c:v>
                </c:pt>
                <c:pt idx="58">
                  <c:v>114.56</c:v>
                </c:pt>
                <c:pt idx="59">
                  <c:v>114.15</c:v>
                </c:pt>
                <c:pt idx="60">
                  <c:v>113.99</c:v>
                </c:pt>
                <c:pt idx="61">
                  <c:v>114.06</c:v>
                </c:pt>
                <c:pt idx="62">
                  <c:v>114.38</c:v>
                </c:pt>
                <c:pt idx="63">
                  <c:v>114.93</c:v>
                </c:pt>
                <c:pt idx="64">
                  <c:v>115.73</c:v>
                </c:pt>
                <c:pt idx="65">
                  <c:v>115.13</c:v>
                </c:pt>
                <c:pt idx="66">
                  <c:v>114.77</c:v>
                </c:pt>
                <c:pt idx="67">
                  <c:v>114.65</c:v>
                </c:pt>
                <c:pt idx="68">
                  <c:v>114.78</c:v>
                </c:pt>
                <c:pt idx="69">
                  <c:v>115.14</c:v>
                </c:pt>
                <c:pt idx="70">
                  <c:v>115.75</c:v>
                </c:pt>
                <c:pt idx="71">
                  <c:v>116.6</c:v>
                </c:pt>
                <c:pt idx="72">
                  <c:v>116.04</c:v>
                </c:pt>
                <c:pt idx="73">
                  <c:v>115.72</c:v>
                </c:pt>
                <c:pt idx="74">
                  <c:v>115.65</c:v>
                </c:pt>
                <c:pt idx="75">
                  <c:v>115.82</c:v>
                </c:pt>
                <c:pt idx="76">
                  <c:v>116.24</c:v>
                </c:pt>
                <c:pt idx="77">
                  <c:v>116.89</c:v>
                </c:pt>
                <c:pt idx="78">
                  <c:v>116.13</c:v>
                </c:pt>
                <c:pt idx="79">
                  <c:v>115.62</c:v>
                </c:pt>
                <c:pt idx="80">
                  <c:v>115.35</c:v>
                </c:pt>
                <c:pt idx="81">
                  <c:v>115.32</c:v>
                </c:pt>
                <c:pt idx="82">
                  <c:v>115.54</c:v>
                </c:pt>
                <c:pt idx="83">
                  <c:v>116</c:v>
                </c:pt>
                <c:pt idx="84">
                  <c:v>116.71</c:v>
                </c:pt>
                <c:pt idx="85">
                  <c:v>116</c:v>
                </c:pt>
                <c:pt idx="86">
                  <c:v>115.54</c:v>
                </c:pt>
                <c:pt idx="87">
                  <c:v>115.33</c:v>
                </c:pt>
                <c:pt idx="88">
                  <c:v>115.36</c:v>
                </c:pt>
                <c:pt idx="89">
                  <c:v>115.64</c:v>
                </c:pt>
                <c:pt idx="90">
                  <c:v>116.16</c:v>
                </c:pt>
                <c:pt idx="91">
                  <c:v>115.27</c:v>
                </c:pt>
                <c:pt idx="92">
                  <c:v>114.63</c:v>
                </c:pt>
                <c:pt idx="93">
                  <c:v>114.24</c:v>
                </c:pt>
                <c:pt idx="94">
                  <c:v>114.1</c:v>
                </c:pt>
                <c:pt idx="95">
                  <c:v>114.2</c:v>
                </c:pt>
                <c:pt idx="96">
                  <c:v>114.55</c:v>
                </c:pt>
                <c:pt idx="97">
                  <c:v>115.15</c:v>
                </c:pt>
                <c:pt idx="98">
                  <c:v>114.35</c:v>
                </c:pt>
                <c:pt idx="99">
                  <c:v>113.8</c:v>
                </c:pt>
                <c:pt idx="100">
                  <c:v>113.5</c:v>
                </c:pt>
                <c:pt idx="101">
                  <c:v>113.44</c:v>
                </c:pt>
                <c:pt idx="102">
                  <c:v>113.64</c:v>
                </c:pt>
                <c:pt idx="103">
                  <c:v>114.08</c:v>
                </c:pt>
                <c:pt idx="104">
                  <c:v>113.14</c:v>
                </c:pt>
                <c:pt idx="105">
                  <c:v>112.45</c:v>
                </c:pt>
                <c:pt idx="106">
                  <c:v>112.01</c:v>
                </c:pt>
                <c:pt idx="107">
                  <c:v>111.82</c:v>
                </c:pt>
                <c:pt idx="108">
                  <c:v>111.88</c:v>
                </c:pt>
                <c:pt idx="109">
                  <c:v>112.18</c:v>
                </c:pt>
                <c:pt idx="110">
                  <c:v>112.74</c:v>
                </c:pt>
                <c:pt idx="111">
                  <c:v>111.93</c:v>
                </c:pt>
                <c:pt idx="112">
                  <c:v>111.37</c:v>
                </c:pt>
                <c:pt idx="113">
                  <c:v>111.07</c:v>
                </c:pt>
                <c:pt idx="114">
                  <c:v>111.01</c:v>
                </c:pt>
                <c:pt idx="115">
                  <c:v>111.2</c:v>
                </c:pt>
                <c:pt idx="116">
                  <c:v>111.64</c:v>
                </c:pt>
                <c:pt idx="117">
                  <c:v>110.73</c:v>
                </c:pt>
                <c:pt idx="118">
                  <c:v>110.08</c:v>
                </c:pt>
                <c:pt idx="119">
                  <c:v>109.68</c:v>
                </c:pt>
                <c:pt idx="120">
                  <c:v>109.52</c:v>
                </c:pt>
                <c:pt idx="121">
                  <c:v>109.62</c:v>
                </c:pt>
                <c:pt idx="122">
                  <c:v>109.96</c:v>
                </c:pt>
                <c:pt idx="123">
                  <c:v>110.55</c:v>
                </c:pt>
                <c:pt idx="124">
                  <c:v>109.81</c:v>
                </c:pt>
                <c:pt idx="125">
                  <c:v>109.32</c:v>
                </c:pt>
                <c:pt idx="126">
                  <c:v>109.09</c:v>
                </c:pt>
                <c:pt idx="127">
                  <c:v>109.11</c:v>
                </c:pt>
                <c:pt idx="128">
                  <c:v>109.37</c:v>
                </c:pt>
                <c:pt idx="129">
                  <c:v>109.88</c:v>
                </c:pt>
                <c:pt idx="130">
                  <c:v>109.08</c:v>
                </c:pt>
                <c:pt idx="131">
                  <c:v>108.53</c:v>
                </c:pt>
                <c:pt idx="132">
                  <c:v>108.23</c:v>
                </c:pt>
                <c:pt idx="133">
                  <c:v>108.18</c:v>
                </c:pt>
                <c:pt idx="134">
                  <c:v>108.37</c:v>
                </c:pt>
                <c:pt idx="135">
                  <c:v>108.82</c:v>
                </c:pt>
                <c:pt idx="136">
                  <c:v>109.51</c:v>
                </c:pt>
                <c:pt idx="137">
                  <c:v>108.9</c:v>
                </c:pt>
                <c:pt idx="138">
                  <c:v>108.54</c:v>
                </c:pt>
                <c:pt idx="139">
                  <c:v>108.43</c:v>
                </c:pt>
                <c:pt idx="140">
                  <c:v>108.57</c:v>
                </c:pt>
                <c:pt idx="141">
                  <c:v>108.96</c:v>
                </c:pt>
                <c:pt idx="142">
                  <c:v>109.6</c:v>
                </c:pt>
                <c:pt idx="143">
                  <c:v>108.94</c:v>
                </c:pt>
                <c:pt idx="144">
                  <c:v>108.52</c:v>
                </c:pt>
                <c:pt idx="145">
                  <c:v>108.36</c:v>
                </c:pt>
                <c:pt idx="146">
                  <c:v>108.45</c:v>
                </c:pt>
                <c:pt idx="147">
                  <c:v>108.78</c:v>
                </c:pt>
                <c:pt idx="148">
                  <c:v>109.37</c:v>
                </c:pt>
                <c:pt idx="149">
                  <c:v>110.21</c:v>
                </c:pt>
                <c:pt idx="150">
                  <c:v>109.74</c:v>
                </c:pt>
                <c:pt idx="151">
                  <c:v>109.52</c:v>
                </c:pt>
                <c:pt idx="152">
                  <c:v>109.55</c:v>
                </c:pt>
                <c:pt idx="153">
                  <c:v>109.84</c:v>
                </c:pt>
                <c:pt idx="154">
                  <c:v>110.37</c:v>
                </c:pt>
                <c:pt idx="155">
                  <c:v>111.17</c:v>
                </c:pt>
                <c:pt idx="156">
                  <c:v>110.63</c:v>
                </c:pt>
                <c:pt idx="157">
                  <c:v>110.35</c:v>
                </c:pt>
                <c:pt idx="158">
                  <c:v>110.32</c:v>
                </c:pt>
                <c:pt idx="159">
                  <c:v>110.54</c:v>
                </c:pt>
                <c:pt idx="160">
                  <c:v>111.02</c:v>
                </c:pt>
                <c:pt idx="161">
                  <c:v>111.75</c:v>
                </c:pt>
                <c:pt idx="162">
                  <c:v>112.74</c:v>
                </c:pt>
                <c:pt idx="163">
                  <c:v>112.38</c:v>
                </c:pt>
                <c:pt idx="164">
                  <c:v>112.28</c:v>
                </c:pt>
                <c:pt idx="165">
                  <c:v>112.44</c:v>
                </c:pt>
                <c:pt idx="166">
                  <c:v>112.85</c:v>
                </c:pt>
                <c:pt idx="167">
                  <c:v>113.51</c:v>
                </c:pt>
                <c:pt idx="168">
                  <c:v>114.43</c:v>
                </c:pt>
                <c:pt idx="169">
                  <c:v>113.99</c:v>
                </c:pt>
                <c:pt idx="170">
                  <c:v>113.8</c:v>
                </c:pt>
                <c:pt idx="171">
                  <c:v>113.87</c:v>
                </c:pt>
                <c:pt idx="172">
                  <c:v>114.19</c:v>
                </c:pt>
                <c:pt idx="173">
                  <c:v>114.77</c:v>
                </c:pt>
                <c:pt idx="174">
                  <c:v>115.6</c:v>
                </c:pt>
                <c:pt idx="175">
                  <c:v>116.7</c:v>
                </c:pt>
                <c:pt idx="176">
                  <c:v>116.41</c:v>
                </c:pt>
                <c:pt idx="177">
                  <c:v>116.37</c:v>
                </c:pt>
                <c:pt idx="178">
                  <c:v>116.58</c:v>
                </c:pt>
                <c:pt idx="179">
                  <c:v>117.06</c:v>
                </c:pt>
                <c:pt idx="180">
                  <c:v>117.8</c:v>
                </c:pt>
                <c:pt idx="181">
                  <c:v>118.8</c:v>
                </c:pt>
                <c:pt idx="182">
                  <c:v>118.37</c:v>
                </c:pt>
                <c:pt idx="183">
                  <c:v>118.2</c:v>
                </c:pt>
                <c:pt idx="184">
                  <c:v>118.29</c:v>
                </c:pt>
                <c:pt idx="185">
                  <c:v>118.64</c:v>
                </c:pt>
                <c:pt idx="186">
                  <c:v>119.25</c:v>
                </c:pt>
                <c:pt idx="187">
                  <c:v>120.12</c:v>
                </c:pt>
                <c:pt idx="188">
                  <c:v>121.25</c:v>
                </c:pt>
                <c:pt idx="189">
                  <c:v>120.93</c:v>
                </c:pt>
                <c:pt idx="190">
                  <c:v>120.87</c:v>
                </c:pt>
                <c:pt idx="191">
                  <c:v>121.07</c:v>
                </c:pt>
                <c:pt idx="192">
                  <c:v>121.53</c:v>
                </c:pt>
                <c:pt idx="193">
                  <c:v>122.26</c:v>
                </c:pt>
                <c:pt idx="194">
                  <c:v>123.25</c:v>
                </c:pt>
                <c:pt idx="195">
                  <c:v>122.75</c:v>
                </c:pt>
                <c:pt idx="196">
                  <c:v>122.51</c:v>
                </c:pt>
                <c:pt idx="197">
                  <c:v>122.54</c:v>
                </c:pt>
                <c:pt idx="198">
                  <c:v>122.83</c:v>
                </c:pt>
                <c:pt idx="199">
                  <c:v>123.38</c:v>
                </c:pt>
                <c:pt idx="200">
                  <c:v>124.2</c:v>
                </c:pt>
                <c:pt idx="201">
                  <c:v>125.28</c:v>
                </c:pt>
                <c:pt idx="202">
                  <c:v>124.85</c:v>
                </c:pt>
                <c:pt idx="203">
                  <c:v>124.68</c:v>
                </c:pt>
                <c:pt idx="204">
                  <c:v>124.78</c:v>
                </c:pt>
                <c:pt idx="205">
                  <c:v>125.14</c:v>
                </c:pt>
                <c:pt idx="206">
                  <c:v>125.77</c:v>
                </c:pt>
                <c:pt idx="207">
                  <c:v>126.66</c:v>
                </c:pt>
                <c:pt idx="208">
                  <c:v>126.02</c:v>
                </c:pt>
                <c:pt idx="209">
                  <c:v>125.64</c:v>
                </c:pt>
                <c:pt idx="210">
                  <c:v>125.53</c:v>
                </c:pt>
                <c:pt idx="211">
                  <c:v>125.69</c:v>
                </c:pt>
                <c:pt idx="212">
                  <c:v>126.11</c:v>
                </c:pt>
                <c:pt idx="213">
                  <c:v>126.79</c:v>
                </c:pt>
                <c:pt idx="214">
                  <c:v>127.75</c:v>
                </c:pt>
                <c:pt idx="215">
                  <c:v>127.15</c:v>
                </c:pt>
                <c:pt idx="216">
                  <c:v>126.82</c:v>
                </c:pt>
                <c:pt idx="217">
                  <c:v>126.76</c:v>
                </c:pt>
                <c:pt idx="218">
                  <c:v>126.97</c:v>
                </c:pt>
                <c:pt idx="219">
                  <c:v>127.44</c:v>
                </c:pt>
                <c:pt idx="220">
                  <c:v>128.18</c:v>
                </c:pt>
                <c:pt idx="221">
                  <c:v>127.37</c:v>
                </c:pt>
                <c:pt idx="222">
                  <c:v>126.82</c:v>
                </c:pt>
                <c:pt idx="223">
                  <c:v>126.55</c:v>
                </c:pt>
                <c:pt idx="224">
                  <c:v>126.54</c:v>
                </c:pt>
                <c:pt idx="225">
                  <c:v>126.79</c:v>
                </c:pt>
                <c:pt idx="226">
                  <c:v>127.32</c:v>
                </c:pt>
                <c:pt idx="227">
                  <c:v>128.11000000000001</c:v>
                </c:pt>
                <c:pt idx="228">
                  <c:v>127.35</c:v>
                </c:pt>
                <c:pt idx="229">
                  <c:v>126.86</c:v>
                </c:pt>
                <c:pt idx="230">
                  <c:v>126.64</c:v>
                </c:pt>
                <c:pt idx="231">
                  <c:v>126.69</c:v>
                </c:pt>
                <c:pt idx="232">
                  <c:v>127.01</c:v>
                </c:pt>
                <c:pt idx="233">
                  <c:v>127.6</c:v>
                </c:pt>
                <c:pt idx="234">
                  <c:v>126.64</c:v>
                </c:pt>
                <c:pt idx="235">
                  <c:v>125.95</c:v>
                </c:pt>
                <c:pt idx="236">
                  <c:v>125.54</c:v>
                </c:pt>
                <c:pt idx="237">
                  <c:v>125.39</c:v>
                </c:pt>
                <c:pt idx="238">
                  <c:v>125.52</c:v>
                </c:pt>
                <c:pt idx="239">
                  <c:v>125.91</c:v>
                </c:pt>
                <c:pt idx="240">
                  <c:v>126.57</c:v>
                </c:pt>
                <c:pt idx="241">
                  <c:v>125.7</c:v>
                </c:pt>
                <c:pt idx="242">
                  <c:v>125.11</c:v>
                </c:pt>
                <c:pt idx="243">
                  <c:v>124.78</c:v>
                </c:pt>
                <c:pt idx="244">
                  <c:v>124.73</c:v>
                </c:pt>
                <c:pt idx="245">
                  <c:v>124.95</c:v>
                </c:pt>
                <c:pt idx="246">
                  <c:v>125.44</c:v>
                </c:pt>
                <c:pt idx="247">
                  <c:v>124.41</c:v>
                </c:pt>
                <c:pt idx="248">
                  <c:v>123.66</c:v>
                </c:pt>
                <c:pt idx="249">
                  <c:v>123.18</c:v>
                </c:pt>
                <c:pt idx="250">
                  <c:v>122.97</c:v>
                </c:pt>
                <c:pt idx="251">
                  <c:v>123.04</c:v>
                </c:pt>
                <c:pt idx="252">
                  <c:v>123.37</c:v>
                </c:pt>
                <c:pt idx="253">
                  <c:v>123.98</c:v>
                </c:pt>
                <c:pt idx="254">
                  <c:v>123.09</c:v>
                </c:pt>
                <c:pt idx="255">
                  <c:v>122.47</c:v>
                </c:pt>
                <c:pt idx="256">
                  <c:v>122.13</c:v>
                </c:pt>
                <c:pt idx="257">
                  <c:v>122.07</c:v>
                </c:pt>
                <c:pt idx="258">
                  <c:v>122.27</c:v>
                </c:pt>
                <c:pt idx="259">
                  <c:v>122.75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2EF-4567-A485-A99D8C72F2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7E0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72"/>
                </a:solidFill>
                <a:latin typeface="Courier New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7228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0:00–0:10 Wall of Resulting + homework harvest: collect the companies the lookup COULDN'T find on the flip chart, titled 'Coverage gaps are data'. It pays off mid-lesson.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the day as a squiggle on the flip chart, circle the final point. Everything else evaporates; this survives. 15 min including the stance (next slide).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course's stance, said plainly. It's also why the toolkit snapshots nightly instead of streaming — the architecture IS the philosophy.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 THIS SLIDE before class: put the actual student's name in. Crediting them by name is the moment of the night. If nobody invented it in week 2, retitle: 'The question week 2 should have asked.'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Scam-literacy seed #3. Our chart pages have range buttons — show the same stock at 3m and max, live. Charts are adjusted closes (week 2's split lesson — no fake crashes).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/api/universe on screen: every company, days of history, last refresh. Connect to the 0:00 gap list — their missing companies are the same phenomenon. 'Is Irish data rubbish then?' No — Irish champions mostly moved their main listings to New York (CRH 2023, Flutter &amp; Smurfit 2024); our data follows where the trading went. Week 11 shows the same migration in the fee schedule. Honest extra for the curious: the refusals follow no visible rule (Lilly refused, Delta fine) — so we stopped guessing and measured. That's the course method, applied to our own data supplier.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serve-time is printed under every chart on the site — show it live. ~100x faster and zero marginal cost: that's what caching means, and why week 2's ration stopped mattering.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min. Last week one lookup cost most of a second and burned ration; tonight the cache is theirs to hammer. Circulate; collect one surprise per table. The drawdown they just found returns in week 9 as 'drawdowns are normal'.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last_nightly_run line in /api/universe metadata. 5 min, light touch — the idea lands harder in week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urge-journal is the behavioural core of the whole course — weeks 7–9 systematise it. Close with the sentence, as always.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weeks in: the free university text has tracked us the whole way. Still optional, still free.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B7C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 TO THE STOCK MARKET  ·  A COMMUNITY COURSE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83080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7000"/>
              </a:lnSpc>
              <a:buNone/>
            </a:pPr>
            <a:r>
              <a:rPr lang="en-US" sz="6600" b="1" dirty="0">
                <a:solidFill>
                  <a:srgbClr val="EEF2E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nightly close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434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9DBCA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calm number a day, a robot that collects it — and the student who invented the whole idea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 rot="-240000">
            <a:off x="10149840" y="640080"/>
            <a:ext cx="1371600" cy="384048"/>
          </a:xfrm>
          <a:prstGeom prst="rect">
            <a:avLst/>
          </a:prstGeom>
          <a:noFill/>
          <a:ln w="19050">
            <a:solidFill>
              <a:srgbClr val="B4382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B438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WK 3 / 12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9893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 grade decisions, not outcomes.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3E6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“THE CLOSE”?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826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number the whole world writes down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105156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" name="Text 3"/>
          <p:cNvSpPr txBox="1"/>
          <p:nvPr/>
        </p:nvSpPr>
        <p:spPr>
          <a:xfrm>
            <a:off x="1097280" y="2606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 trades  </a:t>
            </a:r>
            <a:r>
              <a:rPr lang="en-US" sz="2200" b="1" dirty="0">
                <a:solidFill>
                  <a:srgbClr val="3E6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2:30pm → 9:00pm</a:t>
            </a:r>
            <a:r>
              <a:rPr lang="en-US" sz="190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on an Irish clock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404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7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day, the price is a squiggle of handshakes. At the bell, one last deal happens — </a:t>
            </a:r>
            <a:r>
              <a:rPr lang="en-US" sz="1750" b="1" dirty="0">
                <a:solidFill>
                  <a:srgbClr val="3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close</a:t>
            </a:r>
            <a:r>
              <a:rPr lang="en-US" sz="17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squiggle evaporates. The close survives: it's what the papers print, what funds are valued on, what history remembers. An index — the S&amp;P 500 — is just a basket's close.</a:t>
            </a:r>
            <a:endParaRPr lang="en-US" sz="17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19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not advice.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64190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deeper, free: CORE, The Economy 2.0 — Macro Unit 6, 'The financial sector'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1920240"/>
            <a:ext cx="9966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956"/>
              </a:lnSpc>
              <a:buNone/>
            </a:pPr>
            <a:r>
              <a:rPr lang="en-US" sz="4200" b="1" dirty="0">
                <a:solidFill>
                  <a:srgbClr val="1826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Calm decisions come from calm data.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44805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look once a day, after the noise stops. Anyone selling you urgency is selling something.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not advice.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82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 rot="-240000">
            <a:off x="8229600" y="640080"/>
            <a:ext cx="3017520" cy="384048"/>
          </a:xfrm>
          <a:prstGeom prst="rect">
            <a:avLst/>
          </a:prstGeom>
          <a:solidFill>
            <a:srgbClr val="2A1715"/>
          </a:solidFill>
          <a:ln w="19050">
            <a:solidFill>
              <a:srgbClr val="B4382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B438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IDEA, SHIPPED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716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week, someone asked: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6596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600" b="1" i="1" dirty="0">
                <a:solidFill>
                  <a:srgbClr val="EEF2E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“Why not fetch everything once at night,</a:t>
            </a:r>
            <a:endParaRPr lang="en-US" sz="36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3600" b="1" i="1" dirty="0">
                <a:solidFill>
                  <a:srgbClr val="EEF2E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and remember it?”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79476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600" i="1" dirty="0">
                <a:solidFill>
                  <a:srgbClr val="9DBC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[student's name], week 2
</a:t>
            </a:r>
            <a:r>
              <a:rPr lang="en-US" sz="1900" dirty="0">
                <a:solidFill>
                  <a:srgbClr val="EE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 at 23:30, a robot does exactly that: visits every company on our list, writes down the close, goes back to sleep. </a:t>
            </a:r>
            <a:r>
              <a:rPr lang="en-US" sz="1900" b="1" dirty="0">
                <a:solidFill>
                  <a:srgbClr val="EE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idea. Running nightly. In public.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3E6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READING A CHART WITHOUT FOOLING YOURSELF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826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Same company. Same data. Different story.</a:t>
            </a:r>
            <a:endParaRPr lang="en-US" sz="3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822960" y="2057400"/>
          <a:ext cx="512064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263640" y="2057400"/>
          <a:ext cx="512064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822960" y="5166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438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 3 months — “it's falling!”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6263640" y="5166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E6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Five years — “it's been climbing for years”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56692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i="1" dirty="0">
                <a:solidFill>
                  <a:srgbClr val="1826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timeframe is a choice someone made before showing you the chart.</a:t>
            </a:r>
            <a:endParaRPr lang="en-US" sz="19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6419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not advice.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4754880" y="64190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deeper, free: CORE, The Economy 2.0 — Macro Unit 8, 'Economic dynamics'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3E6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UNIVERSE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826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tin you can read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01168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1826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48</a:t>
            </a:r>
            <a:endParaRPr lang="en-US" sz="8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29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tested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480560" y="201168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3E6B5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31</a:t>
            </a:r>
            <a:endParaRPr lang="en-US" sz="800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3429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— the course universe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201168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B438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17</a:t>
            </a:r>
            <a:endParaRPr lang="en-US" sz="8000" dirty="0"/>
          </a:p>
        </p:txBody>
      </p:sp>
      <p:sp>
        <p:nvSpPr>
          <p:cNvPr id="9" name="Text 7"/>
          <p:cNvSpPr txBox="1"/>
          <p:nvPr/>
        </p:nvSpPr>
        <p:spPr>
          <a:xfrm>
            <a:off x="8138160" y="3429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refused by the free data plan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4805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500"/>
              </a:lnSpc>
              <a:buNone/>
            </a:pPr>
            <a:r>
              <a:rPr lang="en-US" sz="170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test result is published — who passed, who was refused, and why. </a:t>
            </a:r>
            <a:r>
              <a:rPr lang="en-US" sz="1700" b="1" dirty="0">
                <a:solidFill>
                  <a:srgbClr val="3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hid the gaps; we documented them.
</a:t>
            </a:r>
            <a:r>
              <a:rPr lang="en-US" sz="1700" i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that with any tip-seller's stock list, where you never see what was left out, or why.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19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not advice.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3E6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A NOTEBOOK IS WORTH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826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Asking the world vs asking your own notes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19456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B438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858 ms</a:t>
            </a:r>
            <a:endParaRPr lang="en-US" sz="6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356616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week's live lookup — and it spent ration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394960" y="246888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219456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3E6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ms</a:t>
            </a:r>
            <a:endParaRPr lang="en-US" sz="64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356616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tonight's chart, from the course's own cache — free, unlimited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470916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2000" b="1" i="1" dirty="0">
                <a:solidFill>
                  <a:srgbClr val="1826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Same data. The difference: somebody wrote it down.</a:t>
            </a:r>
            <a:endParaRPr lang="en-US" sz="20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2000" b="1" i="1" dirty="0">
                <a:solidFill>
                  <a:srgbClr val="1826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We stopped asking the world and started asking our own notebook.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19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not advice.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3E6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0:55 — PHONES OUT, NO BUDGET, NO QUEUE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826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Chart safari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10424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82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Chart your week-2 company — or adopt one from the universe</a:t>
            </a:r>
            <a:endParaRPr lang="en-US" sz="18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82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Find its best and its worst stretch of the last five years</a:t>
            </a:r>
            <a:endParaRPr lang="en-US" sz="18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82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One journal line: what story does the shape suggest —</a:t>
            </a:r>
            <a:endParaRPr lang="en-US" sz="18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82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what can the shape NOT tell you?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7548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B438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(It can't tell you why. It can't tell you next.)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not advice.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3E6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ROBOT'S DIARY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826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Trust systems that record their own failures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5111496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blurRad="76200" dist="25400" dir="5400000" algn="bl" rotWithShape="0">
              <a:srgbClr val="182620">
                <a:alpha val="12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5" name="Text 3"/>
          <p:cNvSpPr txBox="1"/>
          <p:nvPr/>
        </p:nvSpPr>
        <p:spPr>
          <a:xfrm>
            <a:off x="1051560" y="2286000"/>
            <a:ext cx="4654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visit, logged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816352"/>
            <a:ext cx="46542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28"/>
              </a:lnSpc>
              <a:buNone/>
            </a:pPr>
            <a:r>
              <a:rPr lang="en-US" sz="13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Success, refusal, limit hit — the robot writes down its own night's work, including the failures, where anyone can audit it.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54496" y="2103120"/>
            <a:ext cx="5111496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blurRad="76200" dist="25400" dir="5400000" algn="bl" rotWithShape="0">
              <a:srgbClr val="182620">
                <a:alpha val="12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8" name="Text 6"/>
          <p:cNvSpPr txBox="1"/>
          <p:nvPr/>
        </p:nvSpPr>
        <p:spPr>
          <a:xfrm>
            <a:off x="6483096" y="2286000"/>
            <a:ext cx="4654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that matters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83096" y="2816352"/>
            <a:ext cx="46542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28"/>
              </a:lnSpc>
              <a:buNone/>
            </a:pPr>
            <a:r>
              <a:rPr lang="en-US" sz="13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and brokers are audited on the same principle. A system that only ever reports wins is not a system — it's a brochure.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937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3E6B5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Week 6 will put it harder: good systems fail honestly; scams never fail well.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19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not advice.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64190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deeper, free: CORE, The Economy 2.0 — Micro Unit 10 — information and trust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3E6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1:20 — HOMEWORK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826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Watch nightly. Act never.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5111496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blurRad="76200" dist="25400" dir="5400000" algn="bl" rotWithShape="0">
              <a:srgbClr val="182620">
                <a:alpha val="12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5" name="Text 3"/>
          <p:cNvSpPr txBox="1"/>
          <p:nvPr/>
        </p:nvSpPr>
        <p:spPr>
          <a:xfrm>
            <a:off x="1051560" y="2286000"/>
            <a:ext cx="4654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discipline drill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816352"/>
            <a:ext cx="46542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28"/>
              </a:lnSpc>
              <a:buNone/>
            </a:pPr>
            <a:r>
              <a:rPr lang="en-US" sz="13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night this week, glance at your company's chart — and do nothing. Notice the urge to act. Journal it once: “Day 3: wanted to do something; didn't; nothing was lost.”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54496" y="2103120"/>
            <a:ext cx="5111496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blurRad="76200" dist="25400" dir="5400000" algn="bl" rotWithShape="0">
              <a:srgbClr val="182620">
                <a:alpha val="12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8" name="Text 6"/>
          <p:cNvSpPr txBox="1"/>
          <p:nvPr/>
        </p:nvSpPr>
        <p:spPr>
          <a:xfrm>
            <a:off x="6483096" y="2286000"/>
            <a:ext cx="4654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next week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83096" y="2816352"/>
            <a:ext cx="46542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28"/>
              </a:lnSpc>
              <a:buNone/>
            </a:pPr>
            <a:r>
              <a:rPr lang="en-US" sz="13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one question about what makes a company actually WORTH something. Next week we open the books — real accounts, real numbers, Mr. Market himself.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19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not advice.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82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31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B7C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 DEEPER — FREE, FOREVER, OPTIONAL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344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EF2E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Economy 2.0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24028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university economics course by CORE Econ — free online, no account, no catch. The same ideas tonight's lesson used, done properly: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3063240"/>
            <a:ext cx="10515600" cy="640080"/>
          </a:xfrm>
          <a:prstGeom prst="roundRect">
            <a:avLst>
              <a:gd name="adj" fmla="val 7143"/>
            </a:avLst>
          </a:prstGeom>
          <a:solidFill>
            <a:srgbClr val="223730"/>
          </a:solidFill>
          <a:ln w="12700">
            <a:solidFill>
              <a:srgbClr val="3E6B54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" name="Text 4"/>
          <p:cNvSpPr txBox="1"/>
          <p:nvPr/>
        </p:nvSpPr>
        <p:spPr>
          <a:xfrm>
            <a:off x="1051560" y="31729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9DBC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MACRO UNIT 6  </a:t>
            </a:r>
            <a:r>
              <a:rPr lang="en-US" sz="1400" dirty="0">
                <a:solidFill>
                  <a:srgbClr val="EE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financial sector: debt, money, and financial markets — what the close is a snapshot of: </a:t>
            </a:r>
          </a:p>
          <a:p>
            <a:r>
              <a:rPr lang="en-US" sz="1400" dirty="0">
                <a:solidFill>
                  <a:srgbClr val="EE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https://books.core-econ.org/the-economy/macroeconomics/06-financial-sector-09-introducing-financial-markets.html#figure-6-13e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3840480"/>
            <a:ext cx="10515600" cy="640080"/>
          </a:xfrm>
          <a:prstGeom prst="roundRect">
            <a:avLst>
              <a:gd name="adj" fmla="val 7143"/>
            </a:avLst>
          </a:prstGeom>
          <a:solidFill>
            <a:srgbClr val="223730"/>
          </a:solidFill>
          <a:ln w="12700">
            <a:solidFill>
              <a:srgbClr val="3E6B54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8" name="Text 6"/>
          <p:cNvSpPr txBox="1"/>
          <p:nvPr/>
        </p:nvSpPr>
        <p:spPr>
          <a:xfrm>
            <a:off x="1051560" y="395020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DBC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MACRO UNIT 8  </a:t>
            </a:r>
            <a:r>
              <a:rPr lang="en-US" sz="1400" dirty="0">
                <a:solidFill>
                  <a:srgbClr val="EE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dynamics: financial and environmental crises — why timeframes mislead — booms, busts and your chart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4617720"/>
            <a:ext cx="10515600" cy="640080"/>
          </a:xfrm>
          <a:prstGeom prst="roundRect">
            <a:avLst>
              <a:gd name="adj" fmla="val 7143"/>
            </a:avLst>
          </a:prstGeom>
          <a:solidFill>
            <a:srgbClr val="223730"/>
          </a:solidFill>
          <a:ln w="12700">
            <a:solidFill>
              <a:srgbClr val="3E6B54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0" name="Text 8"/>
          <p:cNvSpPr txBox="1"/>
          <p:nvPr/>
        </p:nvSpPr>
        <p:spPr>
          <a:xfrm>
            <a:off x="1051560" y="472744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DBC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MICRO UNIT 9  </a:t>
            </a:r>
            <a:r>
              <a:rPr lang="en-US" sz="1400" dirty="0">
                <a:solidFill>
                  <a:srgbClr val="EE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Lenders and borrowers and differences in wealth — saving, patience and why calm wins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897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EF2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books.core-econ.org/the-economy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1313</Words>
  <Application>Microsoft Office PowerPoint</Application>
  <PresentationFormat>Widescreen</PresentationFormat>
  <Paragraphs>100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Century Schoolbook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Intro to the Stock Market</dc:creator>
  <cp:lastModifiedBy>Tony Ryan</cp:lastModifiedBy>
  <cp:revision>2</cp:revision>
  <dcterms:created xsi:type="dcterms:W3CDTF">2026-10-01T18:56:46Z</dcterms:created>
  <dcterms:modified xsi:type="dcterms:W3CDTF">2026-10-02T14:01:24Z</dcterms:modified>
</cp:coreProperties>
</file>