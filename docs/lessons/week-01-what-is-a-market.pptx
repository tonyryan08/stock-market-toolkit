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0:00–0:10 Welcome. Who you are, why this course exists. Make the three promises OUT LOUD (next slide). Then the sentence the course hangs on — tell them it won't make sense yet; it will by the end of tonight.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 the three promises on the board as you say them. They stay up all term. Park any 'which shares should I buy' questions visibly on a Parked list — parked things return, and that builds trust.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it once, slowly. Don't explain it yet — the coin flips will do that. 0:10–0:25 next: what a share actually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Secondary market point: you buy from another PERSON, not from the company. Take questions but park tips-seeking. ~15 min including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 min. Deal sweets unevenly and SAY SO. Auction with theatre. The debrief (next slide) is the actual lesson — the auction is just the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these four out of THEM before naming them. You have just taught price formation, order flow, sentiment and anchoring without a single equation. Name them now, lightly.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 min. Crown the champion and let it sit a beat before the question. Ask for a show of hands: who knows someone who 'made a killing' on some share or coin? Was that skill? How would we know? Answer: process, written down, in advance.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Credit where due: 'resulting' is poker player Annie Duke's word (Thinking in Bets — it's on the reading list). The coin champion was a good outcome from a process with zero skill. Nobody should pay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 out printed templates. Everyone completes a PRACTICE entry now on an everyday decision — the route home, fix-or-float, the bigger bag of coal. The worked example in the handout: losing 7 minutes on the road home and still being right. The rule on the stamp is never waived, all twelve weeks.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twelve-week ledger on screen — week 1 stamped SHIPPED, eleven rows waiting. Tap /api/hello and show the greeting. First scam-literacy seed, planted lightly; it flowers in weeks 6 and 11. If wifi fails: the reveal moves to next week and becomes 'why real systems need error handling'.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repeating the sentence: decisions, not outcomes. Finish on time — ending crisply is part of the brand.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CORE is the free university text some of you will enjoy — entirely optional, never assigned, never examined. It's also in the printed reading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2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B7C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INTRO TO THE STOCK MARKET  ·  A COMMUNITY COURSE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783080"/>
            <a:ext cx="10515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7000"/>
              </a:lnSpc>
              <a:buNone/>
            </a:pPr>
            <a:r>
              <a:rPr lang="en-US" sz="6600" b="1" dirty="0">
                <a:solidFill>
                  <a:srgbClr val="EEF2E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is a market?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3434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9DBCA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Luck vs skill, the price of a chocolate bar, and the one rule of this course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 rot="-240000">
            <a:off x="10149840" y="640080"/>
            <a:ext cx="1371600" cy="384048"/>
          </a:xfrm>
          <a:prstGeom prst="rect">
            <a:avLst/>
          </a:prstGeom>
          <a:noFill/>
          <a:ln w="19050">
            <a:solidFill>
              <a:srgbClr val="B4382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B438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WK 1 / 12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9893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 grade decisions, not outcomes.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3E6B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THREE PROMISES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686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826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Hold us to these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3300984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B7C6D4"/>
            </a:solidFill>
            <a:prstDash val="solid"/>
          </a:ln>
          <a:effectLst>
            <a:outerShdw sx="100000" sy="100000" kx="0" ky="0" algn="bl" rotWithShape="0" blurRad="76200" dist="25400" dir="5400000">
              <a:srgbClr val="18262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51560" y="2286000"/>
            <a:ext cx="2843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portfolios only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816352"/>
            <a:ext cx="28437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28"/>
              </a:lnSpc>
              <a:buNone/>
            </a:pPr>
            <a:r>
              <a:rPr lang="en-US" sz="135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risks a cent in this room. We practise with pretend money and real discipline.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443984" y="2103120"/>
            <a:ext cx="3300984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B7C6D4"/>
            </a:solidFill>
            <a:prstDash val="solid"/>
          </a:ln>
          <a:effectLst>
            <a:outerShdw sx="100000" sy="100000" kx="0" ky="0" algn="bl" rotWithShape="0" blurRad="76200" dist="25400" dir="5400000">
              <a:srgbClr val="18262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672584" y="2286000"/>
            <a:ext cx="2843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tips, ever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672584" y="2816352"/>
            <a:ext cx="28437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28"/>
              </a:lnSpc>
              <a:buNone/>
            </a:pPr>
            <a:r>
              <a:rPr lang="en-US" sz="135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leave with a process, not a portfolio. Anyone who gives you free tips is selling something.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065008" y="2103120"/>
            <a:ext cx="3300984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B7C6D4"/>
            </a:solidFill>
            <a:prstDash val="solid"/>
          </a:ln>
          <a:effectLst>
            <a:outerShdw sx="100000" sy="100000" kx="0" ky="0" algn="bl" rotWithShape="0" blurRad="76200" dist="25400" dir="5400000">
              <a:srgbClr val="18262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93608" y="2286000"/>
            <a:ext cx="2843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open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293608" y="2816352"/>
            <a:ext cx="28437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28"/>
              </a:lnSpc>
              <a:buNone/>
            </a:pPr>
            <a:r>
              <a:rPr lang="en-US" sz="135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 we use is built in public. You can read every line, forever. Opacity is where the fee-takers live.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190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Education, not advice.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1920240"/>
            <a:ext cx="9966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192"/>
              </a:lnSpc>
              <a:buNone/>
            </a:pPr>
            <a:r>
              <a:rPr lang="en-US" sz="4400" b="1" dirty="0">
                <a:solidFill>
                  <a:srgbClr val="1826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 this room we grade decisions, not outcomes.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448056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won't make sense yet. It will by nine o'clock.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Education, not advice.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3E6B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COCKTAIL-NAPKIN DEFINITIONS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686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826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Three things, no jargon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3300984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B7C6D4"/>
            </a:solidFill>
            <a:prstDash val="solid"/>
          </a:ln>
          <a:effectLst>
            <a:outerShdw sx="100000" sy="100000" kx="0" ky="0" algn="bl" rotWithShape="0" blurRad="76200" dist="25400" dir="5400000">
              <a:srgbClr val="18262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51560" y="2286000"/>
            <a:ext cx="2843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816352"/>
            <a:ext cx="28437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28"/>
              </a:lnSpc>
              <a:buNone/>
            </a:pPr>
            <a:r>
              <a:rPr lang="en-US" sz="135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slice of a real business. Own one and a sliver of the tills, the lorries and the debts is yours.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443984" y="2103120"/>
            <a:ext cx="3300984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B7C6D4"/>
            </a:solidFill>
            <a:prstDash val="solid"/>
          </a:ln>
          <a:effectLst>
            <a:outerShdw sx="100000" sy="100000" kx="0" ky="0" algn="bl" rotWithShape="0" blurRad="76200" dist="25400" dir="5400000">
              <a:srgbClr val="18262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672584" y="2286000"/>
            <a:ext cx="2843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exchange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672584" y="2816352"/>
            <a:ext cx="28437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28"/>
              </a:lnSpc>
              <a:buNone/>
            </a:pPr>
            <a:r>
              <a:rPr lang="en-US" sz="135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the room — now a computer — where buyers and sellers find each other. Rules decide who gets what.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065008" y="2103120"/>
            <a:ext cx="3300984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B7C6D4"/>
            </a:solidFill>
            <a:prstDash val="solid"/>
          </a:ln>
          <a:effectLst>
            <a:outerShdw sx="100000" sy="100000" kx="0" ky="0" algn="bl" rotWithShape="0" blurRad="76200" dist="25400" dir="5400000">
              <a:srgbClr val="18262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93608" y="2286000"/>
            <a:ext cx="2843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price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293608" y="2816352"/>
            <a:ext cx="28437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28"/>
              </a:lnSpc>
              <a:buNone/>
            </a:pPr>
            <a:r>
              <a:rPr lang="en-US" sz="135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more than the last deal two strangers agreed to. Not truth. Not value. The last handshake.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190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Education, not advice.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641908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deeper, free: CORE, The Economy 2.0 — Micro Unit 5, 'The rules of the game'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3E6B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0:25 — LIVE EXPERIMENT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686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826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sweet auction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 rot="-240000">
            <a:off x="9692640" y="594360"/>
            <a:ext cx="1920240" cy="384048"/>
          </a:xfrm>
          <a:prstGeom prst="rect">
            <a:avLst/>
          </a:prstGeom>
          <a:noFill/>
          <a:ln w="19050">
            <a:solidFill>
              <a:srgbClr val="B4382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B438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AUCTION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03120"/>
            <a:ext cx="6675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000" b="1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identical chocolate bars. 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Auctioned one at a time, open outcry.
</a:t>
            </a:r>
            <a:pPr indent="0" marL="0">
              <a:lnSpc>
                <a:spcPts val="3200"/>
              </a:lnSpc>
              <a:buNone/>
            </a:pPr>
            <a:r>
              <a:rPr lang="en-US" sz="2000" b="1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money: 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sweets you were dealt — unevenly, on purpose.
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record </a:t>
            </a:r>
            <a:pPr indent="0" marL="0">
              <a:lnSpc>
                <a:spcPts val="3200"/>
              </a:lnSpc>
              <a:buNone/>
            </a:pPr>
            <a:r>
              <a:rPr lang="en-US" sz="2000" b="1" dirty="0">
                <a:solidFill>
                  <a:srgbClr val="B43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hammer price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the board.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863840" y="2011680"/>
            <a:ext cx="3474720" cy="310896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B7C6D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92440" y="21945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7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BOARD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092440" y="2606040"/>
            <a:ext cx="3017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2000" dirty="0">
                <a:solidFill>
                  <a:srgbClr val="1826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Bar 1  ______</a:t>
            </a:r>
            <a:endParaRPr lang="en-US" sz="20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000" dirty="0">
                <a:solidFill>
                  <a:srgbClr val="1826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Bar 2  ______</a:t>
            </a:r>
            <a:endParaRPr lang="en-US" sz="20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000" dirty="0">
                <a:solidFill>
                  <a:srgbClr val="1826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Bar 3  ______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190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Education, not advice.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641908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deeper, free: CORE, The Economy 2.0 — Micro Unit 8, 'Supply and demand'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3E6B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DEBRIEF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686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826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Identical bars. Different prices. Why?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2395728" cy="2651760"/>
          </a:xfrm>
          <a:prstGeom prst="roundRect">
            <a:avLst>
              <a:gd name="adj" fmla="val 2290"/>
            </a:avLst>
          </a:prstGeom>
          <a:solidFill>
            <a:srgbClr val="FFFFFF"/>
          </a:solidFill>
          <a:ln w="12700">
            <a:solidFill>
              <a:srgbClr val="B7C6D4"/>
            </a:solidFill>
            <a:prstDash val="solid"/>
          </a:ln>
          <a:effectLst>
            <a:outerShdw sx="100000" sy="100000" kx="0" ky="0" algn="bl" rotWithShape="0" blurRad="76200" dist="25400" dir="5400000">
              <a:srgbClr val="18262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51560" y="2286000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816352"/>
            <a:ext cx="19385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28"/>
              </a:lnSpc>
              <a:buNone/>
            </a:pPr>
            <a:r>
              <a:rPr lang="en-US" sz="135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held more sweets could bid more. Money supply moves prices.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538728" y="2103120"/>
            <a:ext cx="2395728" cy="2651760"/>
          </a:xfrm>
          <a:prstGeom prst="roundRect">
            <a:avLst>
              <a:gd name="adj" fmla="val 2290"/>
            </a:avLst>
          </a:prstGeom>
          <a:solidFill>
            <a:srgbClr val="FFFFFF"/>
          </a:solidFill>
          <a:ln w="12700">
            <a:solidFill>
              <a:srgbClr val="B7C6D4"/>
            </a:solidFill>
            <a:prstDash val="solid"/>
          </a:ln>
          <a:effectLst>
            <a:outerShdw sx="100000" sy="100000" kx="0" ky="0" algn="bl" rotWithShape="0" blurRad="76200" dist="25400" dir="5400000">
              <a:srgbClr val="18262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767328" y="2286000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Desire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3767328" y="2816352"/>
            <a:ext cx="19385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28"/>
              </a:lnSpc>
              <a:buNone/>
            </a:pPr>
            <a:r>
              <a:rPr lang="en-US" sz="135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wanted it more paid more. Sentiment is real and it is priced.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54496" y="2103120"/>
            <a:ext cx="2395728" cy="2651760"/>
          </a:xfrm>
          <a:prstGeom prst="roundRect">
            <a:avLst>
              <a:gd name="adj" fmla="val 2290"/>
            </a:avLst>
          </a:prstGeom>
          <a:solidFill>
            <a:srgbClr val="FFFFFF"/>
          </a:solidFill>
          <a:ln w="12700">
            <a:solidFill>
              <a:srgbClr val="B7C6D4"/>
            </a:solidFill>
            <a:prstDash val="solid"/>
          </a:ln>
          <a:effectLst>
            <a:outerShdw sx="100000" sy="100000" kx="0" ky="0" algn="bl" rotWithShape="0" blurRad="76200" dist="25400" dir="5400000">
              <a:srgbClr val="18262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83096" y="2286000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bidders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483096" y="2816352"/>
            <a:ext cx="19385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28"/>
              </a:lnSpc>
              <a:buNone/>
            </a:pPr>
            <a:r>
              <a:rPr lang="en-US" sz="135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Seeing hands go up made hands go up. You have just met momentum.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970264" y="2103120"/>
            <a:ext cx="2395728" cy="2651760"/>
          </a:xfrm>
          <a:prstGeom prst="roundRect">
            <a:avLst>
              <a:gd name="adj" fmla="val 2290"/>
            </a:avLst>
          </a:prstGeom>
          <a:solidFill>
            <a:srgbClr val="FFFFFF"/>
          </a:solidFill>
          <a:ln w="12700">
            <a:solidFill>
              <a:srgbClr val="B7C6D4"/>
            </a:solidFill>
            <a:prstDash val="solid"/>
          </a:ln>
          <a:effectLst>
            <a:outerShdw sx="100000" sy="100000" kx="0" ky="0" algn="bl" rotWithShape="0" blurRad="76200" dist="25400" dir="5400000">
              <a:srgbClr val="18262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198864" y="2286000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price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9198864" y="2816352"/>
            <a:ext cx="19385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28"/>
              </a:lnSpc>
              <a:buNone/>
            </a:pPr>
            <a:r>
              <a:rPr lang="en-US" sz="135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1's hammer price became everyone's anchor for Bar 2. Prices remember.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190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Education, not advice.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4754880" y="641908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deeper, free: CORE, The Economy 2.0 — Micro Unit 8, 'Supply and demand'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3E6B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0:40 — LIVE EXPERIMENT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686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826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coin-flip champion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 rot="-240000">
            <a:off x="9966960" y="594360"/>
            <a:ext cx="1645920" cy="384048"/>
          </a:xfrm>
          <a:prstGeom prst="rect">
            <a:avLst/>
          </a:prstGeom>
          <a:noFill/>
          <a:ln w="19050">
            <a:solidFill>
              <a:srgbClr val="B4382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B438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STAND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10058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2200" b="1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stands. </a:t>
            </a:r>
            <a:pPr indent="0" marL="0">
              <a:lnSpc>
                <a:spcPts val="3800"/>
              </a:lnSpc>
              <a:buNone/>
            </a:pPr>
            <a:r>
              <a:rPr lang="en-US" sz="220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heads or tails before each flip.
</a:t>
            </a:r>
            <a:pPr indent="0" marL="0">
              <a:lnSpc>
                <a:spcPts val="3800"/>
              </a:lnSpc>
              <a:buNone/>
            </a:pPr>
            <a:r>
              <a:rPr lang="en-US" sz="2200" b="1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Wrong? </a:t>
            </a:r>
            <a:pPr indent="0" marL="0">
              <a:lnSpc>
                <a:spcPts val="3800"/>
              </a:lnSpc>
              <a:buNone/>
            </a:pPr>
            <a:r>
              <a:rPr lang="en-US" sz="220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 down.
</a:t>
            </a:r>
            <a:pPr indent="0" marL="0">
              <a:lnSpc>
                <a:spcPts val="3800"/>
              </a:lnSpc>
              <a:buNone/>
            </a:pPr>
            <a:r>
              <a:rPr lang="en-US" sz="220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one standing is crowned </a:t>
            </a:r>
            <a:pPr indent="0" marL="0">
              <a:lnSpc>
                <a:spcPts val="3800"/>
              </a:lnSpc>
              <a:buNone/>
            </a:pPr>
            <a:r>
              <a:rPr lang="en-US" sz="2200" b="1" i="1" dirty="0">
                <a:solidFill>
                  <a:srgbClr val="3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room's best coin predictor.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937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B438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Then the only question that matters: would you pay them for coin tips?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190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Education, not advice.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3E6B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WORD FOR TONIGHT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686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826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“Resulting” — judging a decision by its outcome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200400" y="1965960"/>
            <a:ext cx="3931920" cy="1691640"/>
          </a:xfrm>
          <a:prstGeom prst="roundRect">
            <a:avLst>
              <a:gd name="adj" fmla="val 2703"/>
            </a:avLst>
          </a:prstGeom>
          <a:solidFill>
            <a:srgbClr val="DCE8DF"/>
          </a:solidFill>
          <a:ln w="12700">
            <a:solidFill>
              <a:srgbClr val="B7C6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401568" y="2130552"/>
            <a:ext cx="3529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Good decision · Good outcome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3401568" y="2514600"/>
            <a:ext cx="35295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E6B5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Deserved win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7296912" y="1965960"/>
            <a:ext cx="3931920" cy="1691640"/>
          </a:xfrm>
          <a:prstGeom prst="roundRect">
            <a:avLst>
              <a:gd name="adj" fmla="val 2703"/>
            </a:avLst>
          </a:prstGeom>
          <a:solidFill>
            <a:srgbClr val="F3E4E2"/>
          </a:solidFill>
          <a:ln w="12700">
            <a:solidFill>
              <a:srgbClr val="B7C6D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0" y="2130552"/>
            <a:ext cx="3529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Bad decision · Good outcome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7498080" y="2514600"/>
            <a:ext cx="35295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438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Dumb luck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200400" y="3822192"/>
            <a:ext cx="3931920" cy="1691640"/>
          </a:xfrm>
          <a:prstGeom prst="roundRect">
            <a:avLst>
              <a:gd name="adj" fmla="val 2703"/>
            </a:avLst>
          </a:prstGeom>
          <a:solidFill>
            <a:srgbClr val="DCE8DF"/>
          </a:solidFill>
          <a:ln w="12700">
            <a:solidFill>
              <a:srgbClr val="B7C6D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01568" y="3986784"/>
            <a:ext cx="3529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Good decision · Bad outcome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3401568" y="4370832"/>
            <a:ext cx="35295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E6B5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Bad break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7296912" y="3822192"/>
            <a:ext cx="3931920" cy="1691640"/>
          </a:xfrm>
          <a:prstGeom prst="roundRect">
            <a:avLst>
              <a:gd name="adj" fmla="val 2703"/>
            </a:avLst>
          </a:prstGeom>
          <a:solidFill>
            <a:srgbClr val="F3E4E2"/>
          </a:solidFill>
          <a:ln w="12700">
            <a:solidFill>
              <a:srgbClr val="B7C6D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98080" y="3986784"/>
            <a:ext cx="3529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Bad decision · Bad outcome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7498080" y="4370832"/>
            <a:ext cx="35295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438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Deserved loss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3200400" y="5715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only control the left-hand half of each label. So that is what we grade.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06324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826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You cannot rerun life.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190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Education, not advice.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3E6B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0:55 — YOUR MOST IMPORTANT TOOL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686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826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decision journal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5120640" cy="384048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B7C6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21031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6B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 the decision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560320"/>
            <a:ext cx="4663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decision, in one sentence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triggered it (gut counts — write it)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thesis, two sentences max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prove me wrong?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calm am I? (1–5)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63640" y="1920240"/>
            <a:ext cx="5120640" cy="384048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B7C6D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21031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6B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the review date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560320"/>
            <a:ext cx="4663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happened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follow my own rules? yes / no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the PROCESS — repeat what? change what?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Luck or skill — and how do I know?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 rot="-240000">
            <a:off x="8503920" y="594360"/>
            <a:ext cx="2743200" cy="384048"/>
          </a:xfrm>
          <a:prstGeom prst="rect">
            <a:avLst/>
          </a:prstGeom>
          <a:noFill/>
          <a:ln w="19050">
            <a:solidFill>
              <a:srgbClr val="B4382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B438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ENTRY, NO TRADE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190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Education, not advice.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82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315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B7C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1:10 — PHONES OUT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2801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EF2E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Open the course site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822960" y="2514600"/>
            <a:ext cx="10515600" cy="1005840"/>
          </a:xfrm>
          <a:prstGeom prst="roundRect">
            <a:avLst>
              <a:gd name="adj" fmla="val 5455"/>
            </a:avLst>
          </a:prstGeom>
          <a:solidFill>
            <a:srgbClr val="223730"/>
          </a:solidFill>
          <a:ln w="19050">
            <a:solidFill>
              <a:srgbClr val="3E6B5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2743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EF2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your course URL here — written large on the board ]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93192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900" dirty="0">
                <a:solidFill>
                  <a:srgbClr val="C9D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the whole toolkit is one page and one button. </a:t>
            </a:r>
            <a:pPr indent="0" marL="0">
              <a:lnSpc>
                <a:spcPts val="3000"/>
              </a:lnSpc>
              <a:buNone/>
            </a:pPr>
            <a:r>
              <a:rPr lang="en-US" sz="1900" i="1" dirty="0">
                <a:solidFill>
                  <a:srgbClr val="C9D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deliberate.
</a:t>
            </a:r>
            <a:pPr indent="0" marL="0">
              <a:lnSpc>
                <a:spcPts val="3000"/>
              </a:lnSpc>
              <a:buNone/>
            </a:pPr>
            <a:r>
              <a:rPr lang="en-US" sz="1900" b="1" dirty="0">
                <a:solidFill>
                  <a:srgbClr val="EEF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grows one capability a week — same pace as you — in public, where you can watch.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48640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9DBCA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Opacity is where the fee-takers and the scammers live. So: no black boxes here.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3E6B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1:25 — HOMEWORK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686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826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Two small things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5111496" cy="246888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B7C6D4"/>
            </a:solidFill>
            <a:prstDash val="solid"/>
          </a:ln>
          <a:effectLst>
            <a:outerShdw sx="100000" sy="100000" kx="0" ky="0" algn="bl" rotWithShape="0" blurRad="76200" dist="25400" dir="5400000">
              <a:srgbClr val="18262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51560" y="2286000"/>
            <a:ext cx="4654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Bring a headline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816352"/>
            <a:ext cx="46542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28"/>
              </a:lnSpc>
              <a:buNone/>
            </a:pPr>
            <a:r>
              <a:rPr lang="en-US" sz="135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one financial headline or post that smells like luck dressed up as skill. Best one gets pinned to the Wall of Resulting next week — and stays up all term.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54496" y="2103120"/>
            <a:ext cx="5111496" cy="246888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B7C6D4"/>
            </a:solidFill>
            <a:prstDash val="solid"/>
          </a:ln>
          <a:effectLst>
            <a:outerShdw sx="100000" sy="100000" kx="0" ky="0" algn="bl" rotWithShape="0" blurRad="76200" dist="25400" dir="5400000">
              <a:srgbClr val="18262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83096" y="2286000"/>
            <a:ext cx="4654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Keep the journal visible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483096" y="2816352"/>
            <a:ext cx="46542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28"/>
              </a:lnSpc>
              <a:buNone/>
            </a:pPr>
            <a:r>
              <a:rPr lang="en-US" sz="1350" dirty="0">
                <a:solidFill>
                  <a:srgbClr val="18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Somewhere you'll see it. Nothing to fill in yet — just don't lose it. Every paper trade in this course starts with an entry. No entry, no trade.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0292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i="1" dirty="0">
                <a:solidFill>
                  <a:srgbClr val="3E6B5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“We grade decisions, not outcomes.”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190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Education, not advice.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82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31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B7C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 DEEPER — FREE, FOREVER, OPTIONAL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2344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EF2E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Economy 2.0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24028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university economics course by CORE Econ — free online, no account, no catch. The same ideas tonight's lesson used, done properly: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3063240"/>
            <a:ext cx="10515600" cy="640080"/>
          </a:xfrm>
          <a:prstGeom prst="roundRect">
            <a:avLst>
              <a:gd name="adj" fmla="val 7143"/>
            </a:avLst>
          </a:prstGeom>
          <a:solidFill>
            <a:srgbClr val="223730"/>
          </a:solidFill>
          <a:ln w="12700">
            <a:solidFill>
              <a:srgbClr val="3E6B5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317296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DBC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MICRO UNIT 8  </a:t>
            </a:r>
            <a:pPr indent="0" marL="0">
              <a:buNone/>
            </a:pPr>
            <a:r>
              <a:rPr lang="en-US" sz="1400" dirty="0">
                <a:solidFill>
                  <a:srgbClr val="EEF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and demand: markets with many buyers and sellers — tonight's sweet auction, done with graphs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3840480"/>
            <a:ext cx="10515600" cy="640080"/>
          </a:xfrm>
          <a:prstGeom prst="roundRect">
            <a:avLst>
              <a:gd name="adj" fmla="val 7143"/>
            </a:avLst>
          </a:prstGeom>
          <a:solidFill>
            <a:srgbClr val="223730"/>
          </a:solidFill>
          <a:ln w="12700">
            <a:solidFill>
              <a:srgbClr val="3E6B5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395020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DBC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MICRO UNIT 5  </a:t>
            </a:r>
            <a:pPr indent="0" marL="0">
              <a:buNone/>
            </a:pPr>
            <a:r>
              <a:rPr lang="en-US" sz="1400" dirty="0">
                <a:solidFill>
                  <a:srgbClr val="EEF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rules of the game: who gets what and why — why the exchange's rules decide outcomes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4617720"/>
            <a:ext cx="10515600" cy="640080"/>
          </a:xfrm>
          <a:prstGeom prst="roundRect">
            <a:avLst>
              <a:gd name="adj" fmla="val 7143"/>
            </a:avLst>
          </a:prstGeom>
          <a:solidFill>
            <a:srgbClr val="223730"/>
          </a:solidFill>
          <a:ln w="12700">
            <a:solidFill>
              <a:srgbClr val="3E6B5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1560" y="472744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DBC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MICRO UNIT 4  </a:t>
            </a:r>
            <a:pPr indent="0" marL="0">
              <a:buNone/>
            </a:pPr>
            <a:r>
              <a:rPr lang="en-US" sz="1400" dirty="0">
                <a:solidFill>
                  <a:srgbClr val="EEF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interactions and social dilemmas — why watching other bidders moved your hand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897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EF2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books.core-econ.org/the-economy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Intro to the Stock Market</dc:creator>
  <cp:lastModifiedBy>Intro to the Stock Market</cp:lastModifiedBy>
  <cp:revision>1</cp:revision>
  <dcterms:created xsi:type="dcterms:W3CDTF">2026-10-01T18:56:46Z</dcterms:created>
  <dcterms:modified xsi:type="dcterms:W3CDTF">2026-10-01T18:56:46Z</dcterms:modified>
</cp:coreProperties>
</file>